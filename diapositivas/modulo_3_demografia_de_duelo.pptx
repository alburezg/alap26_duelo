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72" r:id="rId2"/>
    <p:sldId id="373" r:id="rId3"/>
    <p:sldId id="374" r:id="rId4"/>
    <p:sldId id="375" r:id="rId5"/>
    <p:sldId id="376" r:id="rId6"/>
    <p:sldId id="377" r:id="rId7"/>
    <p:sldId id="378" r:id="rId8"/>
    <p:sldId id="380" r:id="rId9"/>
    <p:sldId id="381" r:id="rId10"/>
    <p:sldId id="382" r:id="rId11"/>
    <p:sldId id="383" r:id="rId12"/>
    <p:sldId id="384" r:id="rId13"/>
    <p:sldId id="386" r:id="rId14"/>
    <p:sldId id="385" r:id="rId15"/>
    <p:sldId id="392" r:id="rId16"/>
    <p:sldId id="379" r:id="rId17"/>
    <p:sldId id="388" r:id="rId18"/>
    <p:sldId id="389" r:id="rId19"/>
    <p:sldId id="390" r:id="rId20"/>
    <p:sldId id="391" r:id="rId21"/>
    <p:sldId id="38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5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CE02F-4343-4E8C-86FB-123D387862BD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1862E4-7092-4DB9-989E-A9DB5B43F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972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5BD40-BF92-4475-B903-B2BAFFFC32C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32A7-5303-481D-AFF2-576AD2CD5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829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5BD40-BF92-4475-B903-B2BAFFFC32C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32A7-5303-481D-AFF2-576AD2CD5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15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5BD40-BF92-4475-B903-B2BAFFFC32C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32A7-5303-481D-AFF2-576AD2CD5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64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5BD40-BF92-4475-B903-B2BAFFFC32C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32A7-5303-481D-AFF2-576AD2CD5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38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5BD40-BF92-4475-B903-B2BAFFFC32C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32A7-5303-481D-AFF2-576AD2CD5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65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5BD40-BF92-4475-B903-B2BAFFFC32C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32A7-5303-481D-AFF2-576AD2CD5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15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5BD40-BF92-4475-B903-B2BAFFFC32C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32A7-5303-481D-AFF2-576AD2CD5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26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5BD40-BF92-4475-B903-B2BAFFFC32C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32A7-5303-481D-AFF2-576AD2CD5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39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5BD40-BF92-4475-B903-B2BAFFFC32C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32A7-5303-481D-AFF2-576AD2CD5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80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5BD40-BF92-4475-B903-B2BAFFFC32C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32A7-5303-481D-AFF2-576AD2CD5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64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5BD40-BF92-4475-B903-B2BAFFFC32C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32A7-5303-481D-AFF2-576AD2CD5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658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5BD40-BF92-4475-B903-B2BAFFFC32C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932A7-5303-481D-AFF2-576AD2CD5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53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alburezg.github.io/ALAP26_duelo/#ref-acosta_weaponizing_202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8406" y="2808018"/>
            <a:ext cx="11015188" cy="2350000"/>
          </a:xfrm>
        </p:spPr>
        <p:txBody>
          <a:bodyPr>
            <a:normAutofit fontScale="92500" lnSpcReduction="20000"/>
          </a:bodyPr>
          <a:lstStyle/>
          <a:p>
            <a:r>
              <a:rPr lang="es-419" sz="2800" dirty="0"/>
              <a:t>Enrique Acosta</a:t>
            </a:r>
          </a:p>
          <a:p>
            <a:endParaRPr lang="es-419" sz="1200" dirty="0"/>
          </a:p>
          <a:p>
            <a:r>
              <a:rPr lang="es-419" sz="2400" dirty="0"/>
              <a:t>Escuela ALAP 2026</a:t>
            </a:r>
          </a:p>
          <a:p>
            <a:r>
              <a:rPr lang="es-419" sz="2400" dirty="0"/>
              <a:t>Demografía del parentesco con énfasis en estimaciones de duelo</a:t>
            </a:r>
          </a:p>
          <a:p>
            <a:r>
              <a:rPr lang="es-419" sz="2400" i="1" dirty="0"/>
              <a:t>Módulo 3 — Demografía del duelo: el conflicto colombiano</a:t>
            </a:r>
          </a:p>
          <a:p>
            <a:endParaRPr lang="es-419" sz="800" dirty="0"/>
          </a:p>
          <a:p>
            <a:r>
              <a:rPr lang="es-419" sz="2000" dirty="0"/>
              <a:t>San José / Puntarenas, Costa Rica · 24 de agosto de 2026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8579" y="5427233"/>
            <a:ext cx="2442158" cy="9640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133" y="1007232"/>
            <a:ext cx="9144000" cy="1479213"/>
          </a:xfrm>
        </p:spPr>
        <p:txBody>
          <a:bodyPr>
            <a:noAutofit/>
          </a:bodyPr>
          <a:lstStyle/>
          <a:p>
            <a:r>
              <a:rPr lang="es-ES" sz="4400" b="1" dirty="0"/>
              <a:t>Módulo 3 · Demografía de la pérdida: el conflicto colombiano</a:t>
            </a:r>
          </a:p>
        </p:txBody>
      </p:sp>
    </p:spTree>
    <p:extLst>
      <p:ext uri="{BB962C8B-B14F-4D97-AF65-F5344CB8AC3E}">
        <p14:creationId xmlns:p14="http://schemas.microsoft.com/office/powerpoint/2010/main" val="400100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Estructura de esta 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419" sz="2800" b="1" dirty="0"/>
              <a:t>¿Por qué medir el duelo?</a:t>
            </a:r>
          </a:p>
          <a:p>
            <a:pPr lvl="1"/>
            <a:r>
              <a:rPr lang="es-419" sz="1800" dirty="0"/>
              <a:t>Un fenómeno demográfico desatendido, ahora en auge</a:t>
            </a:r>
          </a:p>
          <a:p>
            <a:pPr marL="514350" indent="-514350">
              <a:buFont typeface="+mj-lt"/>
              <a:buAutoNum type="arabicPeriod"/>
            </a:pPr>
            <a:r>
              <a:rPr lang="es-419" sz="2800" b="1" dirty="0"/>
              <a:t>Características del duelo</a:t>
            </a:r>
          </a:p>
          <a:p>
            <a:pPr lvl="1"/>
            <a:r>
              <a:rPr lang="es-419" sz="1800" dirty="0"/>
              <a:t>Multiplicativo, acumulativo, persistente, estructuralmente patrón</a:t>
            </a:r>
          </a:p>
          <a:p>
            <a:pPr marL="514350" indent="-514350">
              <a:buFont typeface="+mj-lt"/>
              <a:buAutoNum type="arabicPeriod"/>
            </a:pPr>
            <a:r>
              <a:rPr lang="es-419" sz="2800" b="1" dirty="0"/>
              <a:t>Impactos del duelo</a:t>
            </a:r>
          </a:p>
          <a:p>
            <a:pPr lvl="1"/>
            <a:r>
              <a:rPr lang="es-419" sz="1800" dirty="0"/>
              <a:t>Emocionales, físicos, materiales, sociales y políticos</a:t>
            </a:r>
          </a:p>
          <a:p>
            <a:pPr marL="514350" indent="-514350">
              <a:buFont typeface="+mj-lt"/>
              <a:buAutoNum type="arabicPeriod"/>
            </a:pPr>
            <a:r>
              <a:rPr lang="es-419" sz="2800" b="1" dirty="0"/>
              <a:t>Aplicaciones</a:t>
            </a:r>
          </a:p>
          <a:p>
            <a:pPr lvl="1"/>
            <a:r>
              <a:rPr lang="es-419" sz="1800" dirty="0"/>
              <a:t>Conflictos armados, pandemias, epidemias, causas de muerte, política pública</a:t>
            </a:r>
          </a:p>
        </p:txBody>
      </p:sp>
    </p:spTree>
    <p:extLst>
      <p:ext uri="{BB962C8B-B14F-4D97-AF65-F5344CB8AC3E}">
        <p14:creationId xmlns:p14="http://schemas.microsoft.com/office/powerpoint/2010/main" val="4001001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¿Por qué medir el duelo?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9443"/>
            <a:ext cx="10134600" cy="5010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419" sz="2600" b="1" dirty="0" smtClean="0"/>
              <a:t>Cambio de foco:</a:t>
            </a:r>
            <a:r>
              <a:rPr lang="es-419" sz="2600" dirty="0" smtClean="0"/>
              <a:t> La </a:t>
            </a:r>
            <a:r>
              <a:rPr lang="es-419" sz="2600" dirty="0"/>
              <a:t>demografía de la mortalidad </a:t>
            </a:r>
            <a:r>
              <a:rPr lang="es-419" sz="2600" dirty="0" smtClean="0"/>
              <a:t>se centra en quiénes </a:t>
            </a:r>
            <a:r>
              <a:rPr lang="es-419" sz="2600" dirty="0"/>
              <a:t>mueren; la demografía del duelo </a:t>
            </a:r>
            <a:r>
              <a:rPr lang="es-419" sz="2600" dirty="0" smtClean="0"/>
              <a:t>en </a:t>
            </a:r>
            <a:r>
              <a:rPr lang="es-419" sz="2600" dirty="0"/>
              <a:t>quiénes sobreviven y cargan la </a:t>
            </a:r>
            <a:r>
              <a:rPr lang="es-419" sz="2600" dirty="0" smtClean="0"/>
              <a:t>pérdida</a:t>
            </a:r>
          </a:p>
          <a:p>
            <a:pPr marL="0" indent="0" algn="ctr">
              <a:buNone/>
            </a:pPr>
            <a:r>
              <a:rPr lang="es-419" sz="2400" i="1" dirty="0" smtClean="0"/>
              <a:t>“El muerto al hoyo, el vivo al embrollo (bollo)”</a:t>
            </a:r>
            <a:endParaRPr lang="es-419" sz="2600" i="1" dirty="0"/>
          </a:p>
          <a:p>
            <a:r>
              <a:rPr lang="es-419" sz="2400" b="1" dirty="0"/>
              <a:t>Las tasas de duelo superan sistemáticamente las tasas de mortalidad</a:t>
            </a:r>
            <a:r>
              <a:rPr lang="es-419" sz="2400" dirty="0"/>
              <a:t> — </a:t>
            </a:r>
            <a:r>
              <a:rPr lang="es-419" sz="2400" dirty="0" smtClean="0"/>
              <a:t>cada muerte se ramifica en varias pérdidas a nivel de familia, amistades, comunidades, etc. </a:t>
            </a:r>
            <a:endParaRPr lang="es-419" sz="1800" i="1" dirty="0" smtClean="0"/>
          </a:p>
          <a:p>
            <a:r>
              <a:rPr lang="es-419" sz="2400" b="1" dirty="0" smtClean="0"/>
              <a:t>Tema históricamente desatendido</a:t>
            </a:r>
            <a:r>
              <a:rPr lang="es-419" sz="2400" dirty="0" smtClean="0"/>
              <a:t> en las ciencias sociales; ha “florecido” recientemente principalmente con la pandemia, la crisis de opioides y los conflictos armados</a:t>
            </a:r>
          </a:p>
          <a:p>
            <a:pPr lvl="2"/>
            <a:r>
              <a:rPr lang="es-419" sz="1800" i="1" dirty="0" smtClean="0"/>
              <a:t>Smith-</a:t>
            </a:r>
            <a:r>
              <a:rPr lang="es-419" sz="1800" i="1" dirty="0" err="1" smtClean="0"/>
              <a:t>Greenaway</a:t>
            </a:r>
            <a:r>
              <a:rPr lang="es-419" sz="1800" i="1" dirty="0"/>
              <a:t>, Verdery &amp; Carr (2025), Annual Review of Sociology</a:t>
            </a:r>
          </a:p>
          <a:p>
            <a:r>
              <a:rPr lang="es-419" sz="2400" b="1" dirty="0"/>
              <a:t>Tiene consecuencias concretas de política pública</a:t>
            </a:r>
            <a:r>
              <a:rPr lang="es-419" sz="2400" dirty="0"/>
              <a:t> — licencias por duelo, beneficios de sobrevivientes, salud mental, memoria </a:t>
            </a:r>
            <a:r>
              <a:rPr lang="es-419" sz="2400" dirty="0" smtClean="0"/>
              <a:t>histórica y reparación</a:t>
            </a:r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400100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Características del duelo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9707"/>
            <a:ext cx="10515600" cy="4522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419" sz="2400" b="1" dirty="0" smtClean="0"/>
              <a:t>Definición desde el punto de vista demográfico</a:t>
            </a:r>
          </a:p>
          <a:p>
            <a:pPr marL="457200" lvl="1" indent="0">
              <a:buNone/>
            </a:pPr>
            <a:r>
              <a:rPr lang="es-419" sz="2000" b="1" dirty="0" smtClean="0"/>
              <a:t>Duelo</a:t>
            </a:r>
            <a:r>
              <a:rPr lang="es-419" sz="2000" dirty="0" smtClean="0"/>
              <a:t> </a:t>
            </a:r>
            <a:r>
              <a:rPr lang="es-419" sz="2000" b="1" dirty="0" smtClean="0"/>
              <a:t>(</a:t>
            </a:r>
            <a:r>
              <a:rPr lang="es-419" sz="2000" b="1" i="1" dirty="0" err="1" smtClean="0"/>
              <a:t>bereavement</a:t>
            </a:r>
            <a:r>
              <a:rPr lang="es-419" sz="2000" b="1" dirty="0" smtClean="0"/>
              <a:t>)</a:t>
            </a:r>
            <a:r>
              <a:rPr lang="es-419" sz="2000" dirty="0" smtClean="0"/>
              <a:t> = estado permanente (absorbente) de haber perdido un ser querido 	(generalmente el foco es sobre familiares)</a:t>
            </a:r>
          </a:p>
          <a:p>
            <a:pPr lvl="1"/>
            <a:r>
              <a:rPr lang="es-419" sz="2000" dirty="0" smtClean="0"/>
              <a:t>Distinto del </a:t>
            </a:r>
            <a:r>
              <a:rPr lang="es-419" sz="2000" b="1" i="1" dirty="0" err="1" smtClean="0"/>
              <a:t>grief</a:t>
            </a:r>
            <a:r>
              <a:rPr lang="es-419" sz="2000" dirty="0" smtClean="0"/>
              <a:t> (duelo emocional), la reacción psicológica, que varía según la vinculación afectiva y el tiempo, entre muchos otros factores.</a:t>
            </a:r>
          </a:p>
          <a:p>
            <a:r>
              <a:rPr lang="es-419" sz="2400" b="1" dirty="0" smtClean="0"/>
              <a:t>Multiplicativo</a:t>
            </a:r>
            <a:endParaRPr lang="es-419" sz="2400" b="1" dirty="0"/>
          </a:p>
          <a:p>
            <a:pPr lvl="2"/>
            <a:r>
              <a:rPr lang="es-419" sz="2000" dirty="0"/>
              <a:t>Una sola muerte genera múltiples personas en duelo — el “multiplicador de duelo”</a:t>
            </a:r>
          </a:p>
          <a:p>
            <a:pPr lvl="3"/>
            <a:r>
              <a:rPr lang="es-419" sz="1800" i="1" dirty="0"/>
              <a:t>~9 familiares </a:t>
            </a:r>
            <a:r>
              <a:rPr lang="es-419" sz="1800" i="1" dirty="0" smtClean="0"/>
              <a:t>cercanos en </a:t>
            </a:r>
            <a:r>
              <a:rPr lang="es-419" sz="1800" i="1" dirty="0"/>
              <a:t>duelo por cada muerte por COVID-19 en EE. UU. (Verdery et al. 2020)</a:t>
            </a:r>
          </a:p>
          <a:p>
            <a:r>
              <a:rPr lang="es-419" sz="2400" b="1" dirty="0"/>
              <a:t>Dos direcciones, magnitudes distintas</a:t>
            </a:r>
          </a:p>
          <a:p>
            <a:pPr lvl="2"/>
            <a:r>
              <a:rPr lang="es-419" sz="2000" dirty="0"/>
              <a:t>Duelo por descendencia (madres/padres que pierden hijas/os) vs. duelo por ascendencia (hijas/os que pierden madres/padres)</a:t>
            </a:r>
          </a:p>
          <a:p>
            <a:pPr lvl="3"/>
            <a:r>
              <a:rPr lang="es-419" sz="1800" i="1" dirty="0" smtClean="0"/>
              <a:t>Una hija puede perder máximo dos padres, una madre puede perder más de dos hijas/os</a:t>
            </a:r>
            <a:endParaRPr lang="es-419" sz="1800" i="1" dirty="0"/>
          </a:p>
        </p:txBody>
      </p:sp>
    </p:spTree>
    <p:extLst>
      <p:ext uri="{BB962C8B-B14F-4D97-AF65-F5344CB8AC3E}">
        <p14:creationId xmlns:p14="http://schemas.microsoft.com/office/powerpoint/2010/main" val="4001001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Características del duelo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9707"/>
            <a:ext cx="10515600" cy="4522319"/>
          </a:xfrm>
        </p:spPr>
        <p:txBody>
          <a:bodyPr>
            <a:normAutofit fontScale="92500" lnSpcReduction="10000"/>
          </a:bodyPr>
          <a:lstStyle/>
          <a:p>
            <a:r>
              <a:rPr lang="es-419" sz="2400" b="1" dirty="0"/>
              <a:t>Acumulativo en el curso de vida</a:t>
            </a:r>
          </a:p>
          <a:p>
            <a:pPr lvl="2"/>
            <a:r>
              <a:rPr lang="es-419" sz="2000" dirty="0"/>
              <a:t>El duelo se acumula con </a:t>
            </a:r>
            <a:r>
              <a:rPr lang="es-419" sz="2000" dirty="0" smtClean="0"/>
              <a:t>el tiempo y la </a:t>
            </a:r>
            <a:r>
              <a:rPr lang="es-419" sz="2000" dirty="0"/>
              <a:t>edad — </a:t>
            </a:r>
            <a:r>
              <a:rPr lang="es-419" sz="2000" dirty="0" smtClean="0"/>
              <a:t>primero centrado en la ascendencia y después en la descendencia</a:t>
            </a:r>
            <a:endParaRPr lang="es-419" sz="2000" dirty="0"/>
          </a:p>
          <a:p>
            <a:r>
              <a:rPr lang="es-419" sz="2400" b="1" dirty="0" smtClean="0"/>
              <a:t>Persistente a nivel poblacional — </a:t>
            </a:r>
            <a:r>
              <a:rPr lang="es-419" sz="2400" b="1" dirty="0"/>
              <a:t>“memoria demográfica”</a:t>
            </a:r>
          </a:p>
          <a:p>
            <a:pPr lvl="2"/>
            <a:r>
              <a:rPr lang="es-419" sz="2000" dirty="0"/>
              <a:t>Persiste décadas después de terminada la crisis de </a:t>
            </a:r>
            <a:r>
              <a:rPr lang="es-419" sz="2000" dirty="0" smtClean="0"/>
              <a:t>mortalidad</a:t>
            </a:r>
          </a:p>
          <a:p>
            <a:pPr lvl="3"/>
            <a:r>
              <a:rPr lang="es-419" sz="1800" i="1" dirty="0" smtClean="0"/>
              <a:t>Río </a:t>
            </a:r>
            <a:r>
              <a:rPr lang="es-419" sz="1800" i="1" dirty="0"/>
              <a:t>Negro, Guatemala: 33 años después del genocidio, ~65% de la población sigue relacionada con una víctima — sin cambio desde 1983 (Alburez-Gutiérrez 2022</a:t>
            </a:r>
            <a:r>
              <a:rPr lang="es-419" sz="1800" i="1" dirty="0" smtClean="0"/>
              <a:t>)</a:t>
            </a:r>
          </a:p>
          <a:p>
            <a:pPr lvl="3"/>
            <a:r>
              <a:rPr lang="es-419" i="1" dirty="0" smtClean="0"/>
              <a:t>Colombia, ~25% de la población 25 años después de finalizado el conflicto</a:t>
            </a:r>
            <a:endParaRPr lang="es-419" sz="1800" i="1" dirty="0"/>
          </a:p>
          <a:p>
            <a:r>
              <a:rPr lang="es-419" sz="2400" b="1" dirty="0" smtClean="0"/>
              <a:t>Reproduce desigualdades estructurales, </a:t>
            </a:r>
            <a:r>
              <a:rPr lang="es-419" sz="2400" b="1" dirty="0"/>
              <a:t>no </a:t>
            </a:r>
            <a:r>
              <a:rPr lang="es-419" sz="2400" b="1" dirty="0" smtClean="0"/>
              <a:t>es aleatorio</a:t>
            </a:r>
            <a:endParaRPr lang="es-419" sz="2400" b="1" dirty="0"/>
          </a:p>
          <a:p>
            <a:pPr lvl="2"/>
            <a:r>
              <a:rPr lang="es-419" sz="2000" dirty="0"/>
              <a:t>Se distribuye desigual por </a:t>
            </a:r>
            <a:r>
              <a:rPr lang="es-419" sz="2000" dirty="0" smtClean="0"/>
              <a:t>país, raza</a:t>
            </a:r>
            <a:r>
              <a:rPr lang="es-419" sz="2000" dirty="0"/>
              <a:t>, género, clase social y edad, y varía según la causa de </a:t>
            </a:r>
            <a:r>
              <a:rPr lang="es-419" sz="2000" dirty="0" smtClean="0"/>
              <a:t>muerte</a:t>
            </a:r>
          </a:p>
          <a:p>
            <a:pPr lvl="2"/>
            <a:r>
              <a:rPr lang="es-419" dirty="0" smtClean="0"/>
              <a:t>Tendencia a concentrarse en poblaciones en condiciones de vulnerabilidad (</a:t>
            </a:r>
            <a:r>
              <a:rPr lang="es-419" dirty="0" err="1"/>
              <a:t>Clustering</a:t>
            </a:r>
            <a:r>
              <a:rPr lang="es-419" dirty="0" smtClean="0"/>
              <a:t>)</a:t>
            </a:r>
          </a:p>
          <a:p>
            <a:pPr lvl="3"/>
            <a:r>
              <a:rPr lang="es-419" sz="1800" dirty="0" smtClean="0"/>
              <a:t>Magnificación de la desigualdad: los grupos que concentran desventajas de mortalidad, suelen tener estructuras familiares más amplias por una alta fecundidad</a:t>
            </a:r>
          </a:p>
          <a:p>
            <a:pPr lvl="4"/>
            <a:r>
              <a:rPr lang="es-419" dirty="0" smtClean="0"/>
              <a:t>Mayor riesgo de muerte y dejando en duelo a más personas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4001001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Impactos del duelo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134600" cy="456241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419" sz="3200" dirty="0"/>
              <a:t>A nivel individual y poblacional, en al menos </a:t>
            </a:r>
            <a:r>
              <a:rPr lang="es-419" sz="3200" b="1" dirty="0"/>
              <a:t>cuatro dimensiones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419" sz="2600" b="1" dirty="0"/>
              <a:t>Emocional y psicológico</a:t>
            </a:r>
          </a:p>
          <a:p>
            <a:pPr lvl="2"/>
            <a:r>
              <a:rPr lang="es-419" sz="2200" dirty="0" smtClean="0"/>
              <a:t>Implica el dolor de la pérdida de alguien significativo. Puede conllevar a estrés </a:t>
            </a:r>
            <a:r>
              <a:rPr lang="es-419" sz="2200" dirty="0"/>
              <a:t>postraumático, duelo prolongado, depresión — más severo en muertes súbitas, violentas o estigmatizadas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419" sz="2600" b="1" dirty="0"/>
              <a:t>Físico</a:t>
            </a:r>
          </a:p>
          <a:p>
            <a:pPr lvl="2"/>
            <a:r>
              <a:rPr lang="es-419" sz="2200" dirty="0"/>
              <a:t>Mayor riesgo de mortalidad (efecto viudez), problemas cardiometabólicos e inmunológicos</a:t>
            </a:r>
          </a:p>
          <a:p>
            <a:pPr lvl="3"/>
            <a:r>
              <a:rPr lang="es-419" sz="1900" i="1" dirty="0"/>
              <a:t>+35% de riesgo de falla cardíaca en madres/padres tras la muerte de un hijo/a (Wei et al. 2022)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419" sz="2600" b="1" dirty="0"/>
              <a:t>Material y económico</a:t>
            </a:r>
          </a:p>
          <a:p>
            <a:pPr lvl="2"/>
            <a:r>
              <a:rPr lang="es-419" sz="2200" dirty="0"/>
              <a:t>Pérdida de ingresos, empobrecimiento (viudas), trayectorias educativas truncadas</a:t>
            </a:r>
          </a:p>
          <a:p>
            <a:pPr lvl="3"/>
            <a:r>
              <a:rPr lang="es-419" sz="1900" i="1" dirty="0"/>
              <a:t>Efecto doble: el duelo por ascendencia reduce el cuidado infantil; el de descendencia reduce el cuidado de personas mayores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419" sz="2600" b="1" dirty="0"/>
              <a:t>Social, político y colectivo</a:t>
            </a:r>
          </a:p>
          <a:p>
            <a:pPr lvl="2"/>
            <a:r>
              <a:rPr lang="es-419" sz="2200" dirty="0"/>
              <a:t>Duelo desautorizado (“disenfranchised grief”) en grupos marginados; transmisión intergeneracional del trauma</a:t>
            </a:r>
          </a:p>
          <a:p>
            <a:pPr lvl="2"/>
            <a:r>
              <a:rPr lang="es-419" sz="2200" dirty="0"/>
              <a:t>Puede movilizar (movimientos sociales) o dificultar la reconciliación política</a:t>
            </a:r>
          </a:p>
        </p:txBody>
      </p:sp>
    </p:spTree>
    <p:extLst>
      <p:ext uri="{BB962C8B-B14F-4D97-AF65-F5344CB8AC3E}">
        <p14:creationId xmlns:p14="http://schemas.microsoft.com/office/powerpoint/2010/main" val="400100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Aplicaciones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9707"/>
            <a:ext cx="10515600" cy="4522319"/>
          </a:xfrm>
        </p:spPr>
        <p:txBody>
          <a:bodyPr>
            <a:normAutofit fontScale="92500" lnSpcReduction="20000"/>
          </a:bodyPr>
          <a:lstStyle/>
          <a:p>
            <a:r>
              <a:rPr lang="es-419" sz="2400" b="1" dirty="0"/>
              <a:t>Conflictos armados y genocidios</a:t>
            </a:r>
          </a:p>
          <a:p>
            <a:pPr lvl="2"/>
            <a:r>
              <a:rPr lang="es-419" sz="1900" dirty="0"/>
              <a:t>Guatemala (Alburez-Gutiérrez 2022) · Siria, Palestina, Afganistán, Ucrania (Alburez-Gutiérrez et al. 2024) · Colombia (Acosta et al. 2026)</a:t>
            </a:r>
          </a:p>
          <a:p>
            <a:r>
              <a:rPr lang="es-419" sz="2400" b="1" dirty="0"/>
              <a:t>Pandemias</a:t>
            </a:r>
          </a:p>
          <a:p>
            <a:pPr lvl="2"/>
            <a:r>
              <a:rPr lang="es-419" sz="1900" dirty="0"/>
              <a:t>Multiplicador de duelo por COVID-19 en EE. UU. y en 31 países (Verdery et al. 2020; Snyder et al. 2022)</a:t>
            </a:r>
          </a:p>
          <a:p>
            <a:r>
              <a:rPr lang="es-419" sz="2400" b="1" dirty="0"/>
              <a:t>Epidemias</a:t>
            </a:r>
          </a:p>
          <a:p>
            <a:pPr lvl="2"/>
            <a:r>
              <a:rPr lang="es-419" sz="1900" dirty="0"/>
              <a:t>Orfandad por VIH/sida en Zimbabue (Zagheni 2011)</a:t>
            </a:r>
          </a:p>
          <a:p>
            <a:r>
              <a:rPr lang="es-419" sz="2400" b="1" dirty="0"/>
              <a:t>Sobredosis y violencia armada</a:t>
            </a:r>
          </a:p>
          <a:p>
            <a:pPr lvl="2"/>
            <a:r>
              <a:rPr lang="es-419" sz="1900" dirty="0"/>
              <a:t>Pérdida parental por drogas y armas de fuego en EE. UU. (Schlüter et al. 2024)</a:t>
            </a:r>
          </a:p>
          <a:p>
            <a:r>
              <a:rPr lang="es-419" sz="2400" b="1" dirty="0"/>
              <a:t>Causa de muerte y desigualdad racial</a:t>
            </a:r>
          </a:p>
          <a:p>
            <a:pPr lvl="2"/>
            <a:r>
              <a:rPr lang="es-419" sz="1900" dirty="0"/>
              <a:t>Modelos de parentesco por causa específica de muerte (Caswell, Margolis &amp; Verdery 2023; Verdery et al. 2023)</a:t>
            </a:r>
          </a:p>
          <a:p>
            <a:r>
              <a:rPr lang="es-419" sz="2400" b="1" dirty="0"/>
              <a:t>Política pública</a:t>
            </a:r>
          </a:p>
          <a:p>
            <a:pPr lvl="2"/>
            <a:r>
              <a:rPr lang="es-419" sz="1900" dirty="0"/>
              <a:t>Licencias por duelo, beneficios de sobrevivientes, planificación de salud </a:t>
            </a:r>
            <a:r>
              <a:rPr lang="es-419" sz="1900" dirty="0" smtClean="0"/>
              <a:t>mental, planificación de políticas de reparación o de crisis sanitaria</a:t>
            </a:r>
            <a:endParaRPr lang="es-419" sz="1900" dirty="0"/>
          </a:p>
        </p:txBody>
      </p:sp>
    </p:spTree>
    <p:extLst>
      <p:ext uri="{BB962C8B-B14F-4D97-AF65-F5344CB8AC3E}">
        <p14:creationId xmlns:p14="http://schemas.microsoft.com/office/powerpoint/2010/main" val="4001001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smtClean="0"/>
              <a:t>Estimación de población en duelo</a:t>
            </a:r>
            <a:endParaRPr lang="es-419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9707"/>
            <a:ext cx="10515600" cy="4522319"/>
          </a:xfrm>
        </p:spPr>
        <p:txBody>
          <a:bodyPr>
            <a:normAutofit fontScale="85000" lnSpcReduction="10000"/>
          </a:bodyPr>
          <a:lstStyle/>
          <a:p>
            <a:pPr fontAlgn="base"/>
            <a:r>
              <a:rPr lang="es-ES" dirty="0"/>
              <a:t>Varias metodologías propuestas, con ventajas y desventajas propias</a:t>
            </a:r>
          </a:p>
          <a:p>
            <a:pPr lvl="1" fontAlgn="base"/>
            <a:r>
              <a:rPr lang="es-ES" dirty="0" err="1"/>
              <a:t>Caswell</a:t>
            </a:r>
            <a:r>
              <a:rPr lang="es-ES" dirty="0"/>
              <a:t> et al., </a:t>
            </a:r>
            <a:r>
              <a:rPr lang="es-ES" dirty="0" smtClean="0"/>
              <a:t>Acosta </a:t>
            </a:r>
            <a:r>
              <a:rPr lang="es-ES" dirty="0"/>
              <a:t>et al., </a:t>
            </a:r>
            <a:r>
              <a:rPr lang="es-ES" dirty="0" err="1"/>
              <a:t>Moretti</a:t>
            </a:r>
            <a:r>
              <a:rPr lang="es-ES" dirty="0"/>
              <a:t> et al., </a:t>
            </a:r>
            <a:r>
              <a:rPr lang="es-ES" dirty="0" smtClean="0"/>
              <a:t>…</a:t>
            </a:r>
          </a:p>
          <a:p>
            <a:pPr lvl="1" fontAlgn="base"/>
            <a:r>
              <a:rPr lang="es-ES" dirty="0"/>
              <a:t>A partir de </a:t>
            </a:r>
            <a:r>
              <a:rPr lang="es-ES" dirty="0" smtClean="0"/>
              <a:t>la estructura de parentesco </a:t>
            </a:r>
            <a:r>
              <a:rPr lang="es-ES" dirty="0"/>
              <a:t>y de las tasas de mortalidad por la causa de interés, </a:t>
            </a:r>
            <a:r>
              <a:rPr lang="es-ES" dirty="0" smtClean="0"/>
              <a:t>se estima </a:t>
            </a:r>
            <a:r>
              <a:rPr lang="es-ES" dirty="0"/>
              <a:t>la cantidad de </a:t>
            </a:r>
            <a:r>
              <a:rPr lang="es-ES" dirty="0" smtClean="0"/>
              <a:t>personas que pierden al menos un pariente en un momento dado</a:t>
            </a:r>
          </a:p>
          <a:p>
            <a:pPr lvl="1" fontAlgn="base"/>
            <a:r>
              <a:rPr lang="es-ES" dirty="0"/>
              <a:t>Acá presentamos </a:t>
            </a:r>
            <a:r>
              <a:rPr lang="es-ES" dirty="0" smtClean="0"/>
              <a:t>la metodología propuesta </a:t>
            </a:r>
            <a:r>
              <a:rPr lang="es-ES" dirty="0"/>
              <a:t>por Acosta et al. (2026), ya que nos parece el más </a:t>
            </a:r>
            <a:r>
              <a:rPr lang="es-ES" dirty="0" smtClean="0"/>
              <a:t>intuitiva (… además de estar aplicada a un caso latinoamericano)</a:t>
            </a:r>
          </a:p>
          <a:p>
            <a:pPr lvl="2" fontAlgn="base"/>
            <a:r>
              <a:rPr lang="es-ES" dirty="0" smtClean="0"/>
              <a:t>Se expone a los familiares disponibles al riesgo de mortalidad por la causa de interés</a:t>
            </a:r>
            <a:endParaRPr lang="es-ES" dirty="0"/>
          </a:p>
          <a:p>
            <a:pPr fontAlgn="base"/>
            <a:r>
              <a:rPr lang="es-ES" dirty="0" smtClean="0"/>
              <a:t>Conceptos clave</a:t>
            </a:r>
          </a:p>
          <a:p>
            <a:pPr lvl="1" fontAlgn="base"/>
            <a:r>
              <a:rPr lang="es-ES" b="1" dirty="0" smtClean="0"/>
              <a:t>Eventos:</a:t>
            </a:r>
            <a:r>
              <a:rPr lang="es-ES" dirty="0" smtClean="0"/>
              <a:t> Cantidades de pérdidas familiares (cada pérdida es un evento)</a:t>
            </a:r>
            <a:endParaRPr lang="es-ES" b="1" dirty="0" smtClean="0"/>
          </a:p>
          <a:p>
            <a:pPr lvl="1" fontAlgn="base"/>
            <a:r>
              <a:rPr lang="es-ES" b="1" dirty="0" smtClean="0"/>
              <a:t>Incidencia:</a:t>
            </a:r>
            <a:r>
              <a:rPr lang="es-ES" dirty="0" smtClean="0"/>
              <a:t> Personas que sufren la pérdida de al menos un familiar por año</a:t>
            </a:r>
          </a:p>
          <a:p>
            <a:pPr lvl="1" fontAlgn="base"/>
            <a:r>
              <a:rPr lang="es-ES" b="1" dirty="0" smtClean="0"/>
              <a:t>Prevalencia:</a:t>
            </a:r>
            <a:r>
              <a:rPr lang="es-ES" dirty="0" smtClean="0"/>
              <a:t> </a:t>
            </a:r>
            <a:r>
              <a:rPr lang="es-ES" dirty="0"/>
              <a:t>Personas que </a:t>
            </a:r>
            <a:r>
              <a:rPr lang="es-ES" dirty="0" smtClean="0"/>
              <a:t>han sufrido la </a:t>
            </a:r>
            <a:r>
              <a:rPr lang="es-ES" dirty="0"/>
              <a:t>pérdida de al menos un familiar </a:t>
            </a:r>
            <a:r>
              <a:rPr lang="es-ES" dirty="0" smtClean="0"/>
              <a:t>hasta un 	año dado (la acumulación de eventos no modifican el estado de la persona en duelo)</a:t>
            </a:r>
          </a:p>
          <a:p>
            <a:pPr lvl="1" fontAlgn="base"/>
            <a:r>
              <a:rPr lang="es-ES" b="1" dirty="0" smtClean="0"/>
              <a:t>Multiplicador de duelo:</a:t>
            </a:r>
            <a:r>
              <a:rPr lang="es-ES" dirty="0" smtClean="0"/>
              <a:t> número </a:t>
            </a:r>
            <a:r>
              <a:rPr lang="es-ES" dirty="0"/>
              <a:t>promedio </a:t>
            </a:r>
            <a:r>
              <a:rPr lang="es-ES" dirty="0" smtClean="0"/>
              <a:t>de personas que entran en estado duelo 	por cada muerte</a:t>
            </a:r>
            <a:endParaRPr lang="es-ES" dirty="0"/>
          </a:p>
          <a:p>
            <a:endParaRPr lang="es-419" sz="1900" dirty="0"/>
          </a:p>
        </p:txBody>
      </p:sp>
    </p:spTree>
    <p:extLst>
      <p:ext uri="{BB962C8B-B14F-4D97-AF65-F5344CB8AC3E}">
        <p14:creationId xmlns:p14="http://schemas.microsoft.com/office/powerpoint/2010/main" val="381196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49" y="111125"/>
            <a:ext cx="3675166" cy="1887569"/>
          </a:xfrm>
        </p:spPr>
        <p:txBody>
          <a:bodyPr>
            <a:noAutofit/>
          </a:bodyPr>
          <a:lstStyle/>
          <a:p>
            <a:r>
              <a:rPr lang="es-419" sz="3600" dirty="0" smtClean="0"/>
              <a:t>Método de estimación de personas en duelo</a:t>
            </a:r>
            <a:endParaRPr lang="es-419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D8D3CF63-120B-46F2-BCEB-03AB9EA8B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872" b="52865"/>
          <a:stretch/>
        </p:blipFill>
        <p:spPr>
          <a:xfrm>
            <a:off x="4148600" y="2361748"/>
            <a:ext cx="3117850" cy="2584333"/>
          </a:xfrm>
        </p:spPr>
      </p:pic>
      <p:pic>
        <p:nvPicPr>
          <p:cNvPr id="7" name="Content Placeholder 4">
            <a:extLst>
              <a:ext uri="{FF2B5EF4-FFF2-40B4-BE49-F238E27FC236}">
                <a16:creationId xmlns="" xmlns:a16="http://schemas.microsoft.com/office/drawing/2014/main" id="{D1EAD0DF-0CC9-46CB-B48F-0B434651A5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35" r="59872" b="21970"/>
          <a:stretch/>
        </p:blipFill>
        <p:spPr>
          <a:xfrm>
            <a:off x="4148600" y="713449"/>
            <a:ext cx="3117850" cy="1693885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="" xmlns:a16="http://schemas.microsoft.com/office/drawing/2014/main" id="{A33D871A-30E3-4B56-B21B-475D014B61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84" r="59872"/>
          <a:stretch/>
        </p:blipFill>
        <p:spPr>
          <a:xfrm>
            <a:off x="4148600" y="4919282"/>
            <a:ext cx="3117850" cy="12070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4F1EA36-9A59-41AF-82A2-99D3474FF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147" y="815685"/>
            <a:ext cx="256618" cy="2900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531F3087-D7C1-47BF-B803-E6FFB7DFD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791" y="2508249"/>
            <a:ext cx="210974" cy="290089"/>
          </a:xfrm>
          <a:prstGeom prst="rect">
            <a:avLst/>
          </a:prstGeom>
        </p:spPr>
      </p:pic>
      <p:pic>
        <p:nvPicPr>
          <p:cNvPr id="9" name="Content Placeholder 4">
            <a:extLst>
              <a:ext uri="{FF2B5EF4-FFF2-40B4-BE49-F238E27FC236}">
                <a16:creationId xmlns="" xmlns:a16="http://schemas.microsoft.com/office/drawing/2014/main" id="{39807EE4-EF0E-4067-AB50-115AAFA712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26"/>
          <a:stretch/>
        </p:blipFill>
        <p:spPr>
          <a:xfrm>
            <a:off x="7401824" y="643557"/>
            <a:ext cx="4605400" cy="5482794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="" xmlns:a16="http://schemas.microsoft.com/office/drawing/2014/main" id="{A8F45EFC-9938-4D45-98E2-A0ED076EFBDA}"/>
              </a:ext>
            </a:extLst>
          </p:cNvPr>
          <p:cNvSpPr txBox="1">
            <a:spLocks/>
          </p:cNvSpPr>
          <p:nvPr/>
        </p:nvSpPr>
        <p:spPr>
          <a:xfrm>
            <a:off x="376773" y="2210668"/>
            <a:ext cx="3584142" cy="33121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>
              <a:spcBef>
                <a:spcPts val="800"/>
              </a:spcBef>
              <a:buSzPct val="100000"/>
              <a:buFont typeface="+mj-lt"/>
              <a:buAutoNum type="arabicPeriod"/>
            </a:pPr>
            <a:r>
              <a:rPr lang="es-419" sz="2200" b="1" dirty="0" smtClean="0"/>
              <a:t>Estimar las tasas de mortalidad por la causa de interés </a:t>
            </a:r>
            <a:r>
              <a:rPr lang="es-419" sz="2200" b="1" dirty="0"/>
              <a:t>(A)</a:t>
            </a:r>
          </a:p>
          <a:p>
            <a:pPr marL="274320" indent="-274320">
              <a:spcBef>
                <a:spcPts val="800"/>
              </a:spcBef>
              <a:buSzPct val="100000"/>
              <a:buFont typeface="+mj-lt"/>
              <a:buAutoNum type="arabicPeriod"/>
            </a:pPr>
            <a:r>
              <a:rPr lang="es-419" sz="2200" b="1" dirty="0"/>
              <a:t>Estimar las estructuras de parentesco (B)</a:t>
            </a:r>
          </a:p>
          <a:p>
            <a:pPr marL="274320" indent="-274320">
              <a:spcBef>
                <a:spcPts val="800"/>
              </a:spcBef>
              <a:buSzPct val="100000"/>
              <a:buFont typeface="+mj-lt"/>
              <a:buAutoNum type="arabicPeriod"/>
            </a:pPr>
            <a:r>
              <a:rPr lang="es-419" sz="2200" b="1" dirty="0"/>
              <a:t>Estimar la población de personas en </a:t>
            </a:r>
            <a:r>
              <a:rPr lang="es-419" sz="2200" b="1" dirty="0" smtClean="0"/>
              <a:t>duelo, </a:t>
            </a:r>
            <a:r>
              <a:rPr lang="es-419" sz="2200" b="1" dirty="0"/>
              <a:t>por tipo de parentesco y agrupación familiar (D</a:t>
            </a:r>
            <a:r>
              <a:rPr lang="es-419" sz="2200" b="1" dirty="0" smtClean="0"/>
              <a:t>)</a:t>
            </a:r>
            <a:endParaRPr lang="es-419" sz="2200" b="1" dirty="0"/>
          </a:p>
        </p:txBody>
      </p:sp>
    </p:spTree>
    <p:extLst>
      <p:ext uri="{BB962C8B-B14F-4D97-AF65-F5344CB8AC3E}">
        <p14:creationId xmlns:p14="http://schemas.microsoft.com/office/powerpoint/2010/main" val="62486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752719" cy="1325563"/>
          </a:xfrm>
        </p:spPr>
        <p:txBody>
          <a:bodyPr/>
          <a:lstStyle/>
          <a:p>
            <a:r>
              <a:rPr lang="es-419" noProof="0" dirty="0"/>
              <a:t>2. Estructuras de parentesco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2350657"/>
            <a:ext cx="6883400" cy="3766691"/>
          </a:xfrm>
        </p:spPr>
        <p:txBody>
          <a:bodyPr>
            <a:normAutofit fontScale="92500"/>
          </a:bodyPr>
          <a:lstStyle/>
          <a:p>
            <a:r>
              <a:rPr lang="es-419" noProof="0" dirty="0"/>
              <a:t>Usando modelos demográficos de parentesco</a:t>
            </a:r>
          </a:p>
          <a:p>
            <a:pPr lvl="1"/>
            <a:r>
              <a:rPr lang="es-419" sz="1800" noProof="0" dirty="0"/>
              <a:t>Goodman et al. (1974), Caswell &amp; Song (2021)</a:t>
            </a:r>
          </a:p>
          <a:p>
            <a:pPr lvl="1"/>
            <a:r>
              <a:rPr lang="es-419" sz="1800" noProof="0" dirty="0" smtClean="0"/>
              <a:t>Paquete de </a:t>
            </a:r>
            <a:r>
              <a:rPr lang="es-419" sz="1800" i="1" noProof="0" dirty="0" smtClean="0"/>
              <a:t>R </a:t>
            </a:r>
            <a:r>
              <a:rPr lang="es-419" sz="1800" i="1" noProof="0" dirty="0" err="1" smtClean="0"/>
              <a:t>DemoKin</a:t>
            </a:r>
            <a:r>
              <a:rPr lang="es-419" sz="1800" i="1" noProof="0" dirty="0" smtClean="0"/>
              <a:t> </a:t>
            </a:r>
            <a:r>
              <a:rPr lang="es-419" sz="1800" noProof="0" dirty="0" smtClean="0"/>
              <a:t>(</a:t>
            </a:r>
            <a:r>
              <a:rPr lang="es-419" sz="1800" noProof="0" dirty="0"/>
              <a:t>Williams et al. 2023)</a:t>
            </a:r>
          </a:p>
          <a:p>
            <a:endParaRPr lang="es-419" sz="700" noProof="0" dirty="0"/>
          </a:p>
          <a:p>
            <a:r>
              <a:rPr lang="es-419" noProof="0" dirty="0" smtClean="0"/>
              <a:t>Entrada: </a:t>
            </a:r>
            <a:r>
              <a:rPr lang="es-419" noProof="0" dirty="0"/>
              <a:t>tasas anuales de fecundidad y mortalidad por sexo y </a:t>
            </a:r>
            <a:r>
              <a:rPr lang="es-419" noProof="0" dirty="0" smtClean="0"/>
              <a:t>edad</a:t>
            </a:r>
            <a:endParaRPr lang="es-419" b="1" noProof="0" dirty="0"/>
          </a:p>
          <a:p>
            <a:endParaRPr lang="es-419" sz="700" noProof="0" dirty="0"/>
          </a:p>
          <a:p>
            <a:r>
              <a:rPr lang="es-419" b="1" noProof="0" dirty="0" smtClean="0"/>
              <a:t>Salidas: </a:t>
            </a:r>
            <a:r>
              <a:rPr lang="es-419" noProof="0" dirty="0"/>
              <a:t>Número promedio </a:t>
            </a:r>
            <a:r>
              <a:rPr lang="es-419" noProof="0" dirty="0" smtClean="0"/>
              <a:t>anual de </a:t>
            </a:r>
            <a:r>
              <a:rPr lang="es-419" noProof="0" dirty="0"/>
              <a:t>familiares vivos por sexo y </a:t>
            </a:r>
            <a:r>
              <a:rPr lang="es-419" noProof="0" dirty="0" smtClean="0"/>
              <a:t>edad (del pariente), </a:t>
            </a:r>
            <a:r>
              <a:rPr lang="es-419" noProof="0" dirty="0"/>
              <a:t>para cada </a:t>
            </a:r>
            <a:r>
              <a:rPr lang="es-419" dirty="0">
                <a:solidFill>
                  <a:srgbClr val="0070C0"/>
                </a:solidFill>
              </a:rPr>
              <a:t>persona </a:t>
            </a:r>
            <a:r>
              <a:rPr lang="es-419" i="1" noProof="0" dirty="0">
                <a:solidFill>
                  <a:srgbClr val="0070C0"/>
                </a:solidFill>
              </a:rPr>
              <a:t>ego</a:t>
            </a:r>
            <a:r>
              <a:rPr lang="es-419" noProof="0" dirty="0">
                <a:solidFill>
                  <a:srgbClr val="0070C0"/>
                </a:solidFill>
              </a:rPr>
              <a:t> </a:t>
            </a:r>
            <a:r>
              <a:rPr lang="es-419" noProof="0" dirty="0"/>
              <a:t>por sexo y </a:t>
            </a:r>
            <a:r>
              <a:rPr lang="es-419" noProof="0" dirty="0" smtClean="0"/>
              <a:t>edad</a:t>
            </a:r>
            <a:endParaRPr lang="es-419" noProof="0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8232747" y="1170729"/>
          <a:ext cx="3232531" cy="53206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783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4461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7769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3234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6821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3182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 err="1" smtClean="0">
                          <a:effectLst/>
                        </a:rPr>
                        <a:t>Year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Sex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Age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Kin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Age </a:t>
                      </a:r>
                      <a:r>
                        <a:rPr lang="es-419" sz="1600" u="none" strike="noStrike" noProof="0" dirty="0" err="1">
                          <a:effectLst/>
                        </a:rPr>
                        <a:t>kin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Living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Hijos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0500">
                <a:tc rowSpan="16">
                  <a:txBody>
                    <a:bodyPr/>
                    <a:lstStyle/>
                    <a:p>
                      <a:pPr algn="ctr" fontAlgn="ctr"/>
                      <a:r>
                        <a:rPr lang="es-419" sz="1600" b="1" u="none" strike="noStrike" noProof="0" dirty="0">
                          <a:solidFill>
                            <a:srgbClr val="0070C0"/>
                          </a:solidFill>
                          <a:effectLst/>
                        </a:rPr>
                        <a:t>2000</a:t>
                      </a:r>
                      <a:endParaRPr lang="es-419" sz="1600" b="1" i="0" u="none" strike="noStrike" noProof="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6">
                  <a:txBody>
                    <a:bodyPr/>
                    <a:lstStyle/>
                    <a:p>
                      <a:pPr algn="ctr" fontAlgn="ctr"/>
                      <a:r>
                        <a:rPr lang="es-419" sz="1600" b="1" u="none" strike="noStrike" noProof="0" dirty="0">
                          <a:solidFill>
                            <a:srgbClr val="0070C0"/>
                          </a:solidFill>
                          <a:effectLst/>
                        </a:rPr>
                        <a:t>h</a:t>
                      </a:r>
                      <a:endParaRPr lang="es-419" sz="1600" b="1" i="0" u="none" strike="noStrike" noProof="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6">
                  <a:txBody>
                    <a:bodyPr/>
                    <a:lstStyle/>
                    <a:p>
                      <a:pPr algn="ctr" fontAlgn="ctr"/>
                      <a:r>
                        <a:rPr lang="es-419" sz="1600" b="1" u="none" strike="noStrike" noProof="0" dirty="0">
                          <a:solidFill>
                            <a:srgbClr val="0070C0"/>
                          </a:solidFill>
                          <a:effectLst/>
                        </a:rPr>
                        <a:t>19</a:t>
                      </a:r>
                      <a:endParaRPr lang="es-419" sz="1600" b="1" i="0" u="none" strike="noStrike" noProof="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6">
                  <a:txBody>
                    <a:bodyPr/>
                    <a:lstStyle/>
                    <a:p>
                      <a:pPr algn="ctr" fontAlgn="ctr"/>
                      <a:r>
                        <a:rPr lang="es-419" sz="1600" u="none" strike="noStrike" noProof="0" dirty="0">
                          <a:effectLst/>
                        </a:rPr>
                        <a:t>Madres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40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0.0549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41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0.0568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42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0.0575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43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0.0570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44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0.0554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45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0.0526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46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0.0492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47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0.0456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48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49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0.0379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50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0.0344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51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52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0.0288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53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0.0265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54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0.0243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u="none" strike="noStrike" noProof="0" dirty="0">
                          <a:effectLst/>
                        </a:rPr>
                        <a:t>55</a:t>
                      </a:r>
                      <a:endParaRPr lang="es-419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Tías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0"/>
                  </a:ext>
                </a:extLst>
              </a:tr>
            </a:tbl>
          </a:graphicData>
        </a:graphic>
      </p:graphicFrame>
      <p:pic>
        <p:nvPicPr>
          <p:cNvPr id="5" name="Content Placeholder 7">
            <a:extLst>
              <a:ext uri="{FF2B5EF4-FFF2-40B4-BE49-F238E27FC236}">
                <a16:creationId xmlns="" xmlns:a16="http://schemas.microsoft.com/office/drawing/2014/main" id="{A389EA7B-06DA-402B-88DA-7FE20381AB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685" y="2767270"/>
            <a:ext cx="781243" cy="904914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4868726" y="215725"/>
            <a:ext cx="2490679" cy="1978248"/>
            <a:chOff x="3749338" y="182116"/>
            <a:chExt cx="1882398" cy="1508572"/>
          </a:xfrm>
        </p:grpSpPr>
        <p:pic>
          <p:nvPicPr>
            <p:cNvPr id="6" name="Content Placeholder 4">
              <a:extLst>
                <a:ext uri="{FF2B5EF4-FFF2-40B4-BE49-F238E27FC236}">
                  <a16:creationId xmlns="" xmlns:a16="http://schemas.microsoft.com/office/drawing/2014/main" id="{30CA4C5D-0233-464C-A546-3D1CFC80E4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749338" y="182116"/>
              <a:ext cx="1882398" cy="150857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="" xmlns:a16="http://schemas.microsoft.com/office/drawing/2014/main" id="{531F3087-D7C1-47BF-B803-E6FFB7DFD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2244" y="257715"/>
              <a:ext cx="156232" cy="214819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160005" y="305615"/>
            <a:ext cx="3305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600" i="1" smtClean="0"/>
              <a:t>Segmento de ejemplo </a:t>
            </a:r>
            <a:r>
              <a:rPr lang="es-419" sz="1600" i="1" dirty="0" smtClean="0"/>
              <a:t>matriz de estructura de parentesco para </a:t>
            </a:r>
            <a:r>
              <a:rPr lang="es-419" sz="1600" i="1" smtClean="0"/>
              <a:t>un </a:t>
            </a:r>
            <a:r>
              <a:rPr lang="es-419" sz="1600" b="1" i="1" smtClean="0">
                <a:solidFill>
                  <a:srgbClr val="0070C0"/>
                </a:solidFill>
              </a:rPr>
              <a:t>ego</a:t>
            </a:r>
            <a:r>
              <a:rPr lang="es-419" sz="1600" i="1" smtClean="0"/>
              <a:t> hombre </a:t>
            </a:r>
            <a:r>
              <a:rPr lang="es-419" sz="1600" i="1" dirty="0" smtClean="0"/>
              <a:t>de 19 </a:t>
            </a:r>
            <a:r>
              <a:rPr lang="es-419" sz="1600" i="1" smtClean="0"/>
              <a:t>años en el año 2000</a:t>
            </a:r>
            <a:endParaRPr lang="en-US" sz="1600" i="1"/>
          </a:p>
        </p:txBody>
      </p:sp>
    </p:spTree>
    <p:extLst>
      <p:ext uri="{BB962C8B-B14F-4D97-AF65-F5344CB8AC3E}">
        <p14:creationId xmlns:p14="http://schemas.microsoft.com/office/powerpoint/2010/main" val="281378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981325" y="1507058"/>
                <a:ext cx="8509672" cy="3696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419" sz="2800" noProof="0" dirty="0"/>
                  <a:t>Acá, el </a:t>
                </a:r>
                <a:r>
                  <a:rPr lang="es-419" sz="2800" b="1" noProof="0" dirty="0">
                    <a:solidFill>
                      <a:srgbClr val="0070C0"/>
                    </a:solidFill>
                  </a:rPr>
                  <a:t>ego</a:t>
                </a:r>
                <a:r>
                  <a:rPr lang="es-419" sz="2800" noProof="0" dirty="0"/>
                  <a:t> sobrevive y los familiares mueren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s-419" sz="700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419" sz="2400" noProof="0" dirty="0"/>
                  <a:t>Basado en probabilidades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s-419" sz="2000" noProof="0" dirty="0"/>
                  <a:t>Tasas de muerte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419" sz="2000" b="0" i="1" noProof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20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s-419" sz="20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419" sz="2000" noProof="0" dirty="0"/>
                  <a:t> → probabilidad de </a:t>
                </a:r>
                <a:r>
                  <a:rPr lang="es-419" sz="2000" noProof="0" dirty="0" smtClean="0"/>
                  <a:t>muerte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419" sz="2000" b="0" i="1" noProof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s-419" sz="20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s-419" sz="200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sz="2000" noProof="0" dirty="0"/>
              </a:p>
              <a:p>
                <a:pPr marL="342900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endParaRPr lang="es-419" b="1" noProof="0" dirty="0"/>
              </a:p>
              <a:p>
                <a:pPr marL="342900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s-419" sz="2000" b="1" noProof="0" dirty="0"/>
                  <a:t>Ejemplo: </a:t>
                </a:r>
                <a:r>
                  <a:rPr lang="es-419" sz="2000" noProof="0" dirty="0"/>
                  <a:t>Un hombre de 42 años tiene </a:t>
                </a:r>
                <a:r>
                  <a:rPr lang="es-419" sz="2000" i="1" noProof="0" dirty="0"/>
                  <a:t>n</a:t>
                </a:r>
                <a:r>
                  <a:rPr lang="es-419" sz="2000" noProof="0" dirty="0"/>
                  <a:t> hermanas de 20 años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s-ES" sz="2000" dirty="0"/>
                  <a:t>Probabilidad de que cada hermana sobreviva 		</a:t>
                </a:r>
                <a:r>
                  <a:rPr lang="es-419" sz="2000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sz="2000" i="1" noProof="0" smtClean="0"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a:rPr lang="es-419" sz="2000" i="1" noProof="0" smtClean="0">
                        <a:latin typeface="Cambria Math" panose="02040503050406030204" pitchFamily="18" charset="0"/>
                      </a:rPr>
                      <m:t>=1−</m:t>
                    </m:r>
                    <m:sSub>
                      <m:sSubPr>
                        <m:ctrlPr>
                          <a:rPr lang="es-419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i="1" noProof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s-419" sz="2000" i="1" noProof="0" smtClean="0"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</m:oMath>
                </a14:m>
                <a:endParaRPr lang="es-419" sz="2000" noProof="0" dirty="0"/>
              </a:p>
              <a:p>
                <a:pPr lvl="1">
                  <a:spcBef>
                    <a:spcPts val="600"/>
                  </a:spcBef>
                </a:pPr>
                <a:r>
                  <a:rPr lang="es-419" sz="2000" dirty="0"/>
                  <a:t>Probabilidad de que todas sobrevivan</a:t>
                </a:r>
                <a:r>
                  <a:rPr lang="es-419" sz="2000" noProof="0" dirty="0"/>
                  <a:t>			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419" sz="2000" i="1" noProof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sz="20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sz="2000" b="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s-419" sz="2000" b="0" i="1" noProof="0" smtClean="0">
                            <a:latin typeface="Cambria Math" panose="02040503050406030204" pitchFamily="18" charset="0"/>
                          </a:rPr>
                          <m:t>,20</m:t>
                        </m:r>
                      </m:sub>
                      <m:sup>
                        <m:r>
                          <a:rPr lang="es-419" sz="200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s-419" sz="2000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sz="20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419" sz="20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419" sz="20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2000" i="1" noProof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s-419" sz="2000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s-419" sz="200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419" sz="2000" noProof="0" dirty="0"/>
              </a:p>
              <a:p>
                <a:pPr lvl="1">
                  <a:spcBef>
                    <a:spcPts val="600"/>
                  </a:spcBef>
                </a:pPr>
                <a:r>
                  <a:rPr lang="es-ES" sz="2000" dirty="0"/>
                  <a:t>Probabilidad de perder al menos a una hermana</a:t>
                </a:r>
                <a:r>
                  <a:rPr lang="es-419" sz="2000" noProof="0" dirty="0"/>
                  <a:t>	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419" sz="2000" i="1" noProof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sz="2000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sz="2000" b="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s-419" sz="2000" b="0" i="1" noProof="0" smtClean="0">
                            <a:latin typeface="Cambria Math" panose="02040503050406030204" pitchFamily="18" charset="0"/>
                          </a:rPr>
                          <m:t>,20</m:t>
                        </m:r>
                      </m:sub>
                      <m:sup>
                        <m:r>
                          <a:rPr lang="es-419" sz="2000" b="0" i="1" noProof="0" smtClean="0">
                            <a:latin typeface="Cambria Math" panose="02040503050406030204" pitchFamily="18" charset="0"/>
                          </a:rPr>
                          <m:t>&gt;0</m:t>
                        </m:r>
                      </m:sup>
                    </m:sSubSup>
                    <m:r>
                      <a:rPr lang="es-419" sz="2000" i="1" noProof="0" smtClean="0">
                        <a:latin typeface="Cambria Math" panose="02040503050406030204" pitchFamily="18" charset="0"/>
                      </a:rPr>
                      <m:t>=1−</m:t>
                    </m:r>
                    <m:sSubSup>
                      <m:sSubSupPr>
                        <m:ctrlPr>
                          <a:rPr lang="es-419" sz="2000" i="1" noProof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sz="20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sz="2000" b="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s-419" sz="2000" b="0" i="1" noProof="0" smtClean="0">
                            <a:latin typeface="Cambria Math" panose="02040503050406030204" pitchFamily="18" charset="0"/>
                          </a:rPr>
                          <m:t>,20</m:t>
                        </m:r>
                      </m:sub>
                      <m:sup>
                        <m:r>
                          <a:rPr lang="es-419" sz="200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endParaRPr lang="es-419" sz="2000" noProof="0" dirty="0"/>
              </a:p>
              <a:p>
                <a:pPr lvl="1">
                  <a:spcBef>
                    <a:spcPts val="600"/>
                  </a:spcBef>
                </a:pPr>
                <a:r>
                  <a:rPr lang="es-419" sz="2000" b="1" dirty="0"/>
                  <a:t>Personas en duelo </a:t>
                </a:r>
                <a:r>
                  <a:rPr lang="es-419" sz="2000" b="1" noProof="0" dirty="0" smtClean="0"/>
                  <a:t>(por hermanas </a:t>
                </a:r>
                <a:r>
                  <a:rPr lang="es-419" sz="2000" b="1" noProof="0" dirty="0"/>
                  <a:t>de edad 20)		</a:t>
                </a:r>
                <a14:m>
                  <m:oMath xmlns:m="http://schemas.openxmlformats.org/officeDocument/2006/math">
                    <m:r>
                      <a:rPr lang="es-419" sz="2000" b="1" i="1" noProof="0" smtClean="0">
                        <a:latin typeface="Cambria Math" panose="02040503050406030204" pitchFamily="18" charset="0"/>
                      </a:rPr>
                      <m:t>	</m:t>
                    </m:r>
                    <m:sSubSup>
                      <m:sSubSupPr>
                        <m:ctrlPr>
                          <a:rPr lang="es-419" sz="2000" b="1" i="1" noProof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sz="2000" b="1" i="1" noProof="0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s-419" sz="2000" b="1" i="1" noProof="0" smtClean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s-419" sz="2000" b="1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419" sz="2000" b="1" i="1" noProof="0" smtClean="0">
                            <a:latin typeface="Cambria Math" panose="02040503050406030204" pitchFamily="18" charset="0"/>
                          </a:rPr>
                          <m:t>𝟐𝟎</m:t>
                        </m:r>
                      </m:sub>
                      <m:sup>
                        <m:r>
                          <a:rPr lang="es-419" sz="2000" b="1" i="1" noProof="0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s-419" sz="2000" b="1" i="1" noProof="0" smtClean="0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  <m:r>
                      <a:rPr lang="es-419" sz="2000" b="1" i="1" noProof="0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s-419" sz="2000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b="1" i="1" noProof="0" smtClean="0">
                            <a:latin typeface="Cambria Math" panose="02040503050406030204" pitchFamily="18" charset="0"/>
                          </a:rPr>
                          <m:t>𝒑𝒐𝒑</m:t>
                        </m:r>
                      </m:e>
                      <m:sub>
                        <m:r>
                          <a:rPr lang="es-419" sz="2000" b="1" i="1" noProof="0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s-419" sz="2000" b="1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419" sz="2000" b="1" i="1" noProof="0" smtClean="0">
                            <a:latin typeface="Cambria Math" panose="02040503050406030204" pitchFamily="18" charset="0"/>
                          </a:rPr>
                          <m:t>𝟒𝟐</m:t>
                        </m:r>
                      </m:sub>
                    </m:sSub>
                  </m:oMath>
                </a14:m>
                <a:endParaRPr lang="es-419" sz="2200" b="1" noProof="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325" y="1507058"/>
                <a:ext cx="8509672" cy="3696846"/>
              </a:xfrm>
              <a:prstGeom prst="rect">
                <a:avLst/>
              </a:prstGeom>
              <a:blipFill rotWithShape="0">
                <a:blip r:embed="rId2"/>
                <a:stretch>
                  <a:fillRect l="-1504" t="-1483" b="-1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noProof="0" dirty="0"/>
              <a:t>3. Estimación de personas en duelo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E9976A24-2991-4580-9B34-895A1A055F0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490997" y="3533800"/>
          <a:ext cx="2536382" cy="1722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5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4810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607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6095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3786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37864">
                  <a:extLst>
                    <a:ext uri="{9D8B030D-6E8A-4147-A177-3AD203B41FA5}">
                      <a16:colId xmlns="" xmlns:a16="http://schemas.microsoft.com/office/drawing/2014/main" val="2107390458"/>
                    </a:ext>
                  </a:extLst>
                </a:gridCol>
              </a:tblGrid>
              <a:tr h="178353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1" u="none" strike="noStrike" noProof="0" dirty="0">
                          <a:effectLst/>
                        </a:rPr>
                        <a:t>Año</a:t>
                      </a:r>
                      <a:endParaRPr lang="es-419" sz="1200" b="1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1" u="none" strike="noStrike" noProof="0" dirty="0">
                          <a:effectLst/>
                        </a:rPr>
                        <a:t>Sexo</a:t>
                      </a:r>
                      <a:endParaRPr lang="es-419" sz="1200" b="1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1" u="none" strike="noStrike" noProof="0" dirty="0">
                          <a:effectLst/>
                        </a:rPr>
                        <a:t>Edad</a:t>
                      </a:r>
                      <a:endParaRPr lang="es-419" sz="1200" b="1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1" u="none" strike="noStrike" noProof="0" dirty="0">
                          <a:effectLst/>
                        </a:rPr>
                        <a:t>Familiar</a:t>
                      </a:r>
                      <a:endParaRPr lang="es-419" sz="1200" b="1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1" u="none" strike="noStrike" noProof="0" dirty="0">
                          <a:effectLst/>
                        </a:rPr>
                        <a:t>Edad </a:t>
                      </a:r>
                      <a:r>
                        <a:rPr lang="es-419" sz="1200" b="1" u="none" strike="noStrike" noProof="0" dirty="0" err="1">
                          <a:effectLst/>
                        </a:rPr>
                        <a:t>fam</a:t>
                      </a:r>
                      <a:endParaRPr lang="es-419" sz="1200" b="1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6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  <a:endParaRPr lang="es-419" sz="1200" b="1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83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7835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Sister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0.0549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17367877"/>
                  </a:ext>
                </a:extLst>
              </a:tr>
              <a:tr h="178353"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0.0568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93985428"/>
                  </a:ext>
                </a:extLst>
              </a:tr>
              <a:tr h="178353"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0.0575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04914025"/>
                  </a:ext>
                </a:extLst>
              </a:tr>
              <a:tr h="178353"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0.0570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97498754"/>
                  </a:ext>
                </a:extLst>
              </a:tr>
              <a:tr h="178353"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0.0554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386034720"/>
                  </a:ext>
                </a:extLst>
              </a:tr>
              <a:tr h="1783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827510DF-73AF-4329-A8C3-B1F17044FF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90997" y="193823"/>
            <a:ext cx="2447482" cy="262647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="" xmlns:a16="http://schemas.microsoft.com/office/drawing/2014/main" id="{E3159417-726D-447A-9F62-C3A02F45A1DF}"/>
              </a:ext>
            </a:extLst>
          </p:cNvPr>
          <p:cNvSpPr/>
          <p:nvPr/>
        </p:nvSpPr>
        <p:spPr>
          <a:xfrm>
            <a:off x="8574761" y="3584441"/>
            <a:ext cx="501880" cy="38311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A7FE76A8-8162-4ED0-A0F1-171F916369AF}"/>
              </a:ext>
            </a:extLst>
          </p:cNvPr>
          <p:cNvSpPr/>
          <p:nvPr/>
        </p:nvSpPr>
        <p:spPr>
          <a:xfrm>
            <a:off x="8877383" y="3929527"/>
            <a:ext cx="199258" cy="243832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33602C25-6F1E-47C6-A015-94774BDC15FE}"/>
              </a:ext>
            </a:extLst>
          </p:cNvPr>
          <p:cNvSpPr/>
          <p:nvPr/>
        </p:nvSpPr>
        <p:spPr>
          <a:xfrm>
            <a:off x="8240165" y="4783524"/>
            <a:ext cx="1090023" cy="417341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359813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9585608"/>
                  </p:ext>
                </p:extLst>
              </p:nvPr>
            </p:nvGraphicFramePr>
            <p:xfrm>
              <a:off x="431263" y="3048172"/>
              <a:ext cx="5723644" cy="181724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88315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424289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465023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693738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668210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777903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  <a:gridCol w="2106166">
                      <a:extLst>
                        <a:ext uri="{9D8B030D-6E8A-4147-A177-3AD203B41FA5}">
                          <a16:colId xmlns="" xmlns:a16="http://schemas.microsoft.com/office/drawing/2014/main" val="20006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b="1" u="none" strike="noStrike" noProof="0" dirty="0" err="1">
                              <a:effectLst/>
                            </a:rPr>
                            <a:t>Year</a:t>
                          </a:r>
                          <a:endParaRPr lang="es-419" sz="1200" b="1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b="1" u="none" strike="noStrike" noProof="0" dirty="0">
                              <a:effectLst/>
                            </a:rPr>
                            <a:t>Sex</a:t>
                          </a:r>
                          <a:endParaRPr lang="es-419" sz="1200" b="1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b="1" u="none" strike="noStrike" noProof="0" dirty="0">
                              <a:effectLst/>
                            </a:rPr>
                            <a:t>Age</a:t>
                          </a:r>
                          <a:endParaRPr lang="es-419" sz="1200" b="1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b="1" u="none" strike="noStrike" noProof="0" dirty="0">
                              <a:effectLst/>
                            </a:rPr>
                            <a:t>Kin</a:t>
                          </a:r>
                          <a:endParaRPr lang="es-419" sz="1200" b="1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b="1" u="none" strike="noStrike" noProof="0" dirty="0">
                              <a:effectLst/>
                            </a:rPr>
                            <a:t>Age </a:t>
                          </a:r>
                          <a:r>
                            <a:rPr lang="es-419" sz="1200" b="1" u="none" strike="noStrike" noProof="0" dirty="0" err="1">
                              <a:effectLst/>
                            </a:rPr>
                            <a:t>kin</a:t>
                          </a:r>
                          <a:endParaRPr lang="es-419" sz="1200" b="1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b="1" u="none" strike="noStrike" noProof="0" dirty="0">
                              <a:effectLst/>
                            </a:rPr>
                            <a:t>Living (n)</a:t>
                          </a:r>
                          <a:endParaRPr lang="es-419" sz="1200" b="1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400" b="1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Probabilidad de </a:t>
                          </a:r>
                          <a:r>
                            <a:rPr lang="es-419" sz="1400" b="1" i="0" u="none" strike="noStrike" noProof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sobrevivir</a:t>
                          </a:r>
                          <a:endParaRPr lang="es-419" sz="1400" b="1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4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190500">
                    <a:tc rowSpan="5"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u="none" strike="noStrike" noProof="0" dirty="0">
                              <a:effectLst/>
                            </a:rPr>
                            <a:t>2023</a:t>
                          </a:r>
                          <a:endParaRPr lang="es-419" sz="12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5"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u="none" strike="noStrike" noProof="0" dirty="0">
                              <a:effectLst/>
                            </a:rPr>
                            <a:t>h</a:t>
                          </a:r>
                          <a:endParaRPr lang="es-419" sz="12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5"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u="none" strike="noStrike" noProof="0" dirty="0">
                              <a:effectLst/>
                            </a:rPr>
                            <a:t>42</a:t>
                          </a:r>
                          <a:endParaRPr lang="es-419" sz="12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5"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u="none" strike="noStrike" noProof="0" dirty="0">
                              <a:effectLst/>
                            </a:rPr>
                            <a:t>hermana</a:t>
                          </a:r>
                          <a:endParaRPr lang="es-419" sz="12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u="none" strike="noStrike" noProof="0" dirty="0">
                              <a:effectLst/>
                            </a:rPr>
                            <a:t>20</a:t>
                          </a:r>
                          <a:endParaRPr lang="es-419" sz="12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0.0549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419" sz="1400" b="0" i="1" u="none" strike="noStrike" noProof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s-419" sz="1400" b="0" i="1" u="none" strike="noStrike" noProof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sz="1400" b="0" i="1" u="none" strike="noStrike" noProof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s-419" sz="1400" b="0" i="1" u="none" strike="noStrike" noProof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s-419" sz="1400" b="0" i="1" u="none" strike="noStrike" noProof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2000, 20,</m:t>
                                        </m:r>
                                        <m:r>
                                          <a:rPr lang="es-419" sz="1400" b="0" i="1" u="none" strike="noStrike" noProof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  <m:r>
                                          <a:rPr lang="es-419" sz="1400" b="0" i="1" u="none" strike="noStrike" noProof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,2000</m:t>
                                        </m:r>
                                      </m:sub>
                                    </m:sSub>
                                    <m:r>
                                      <a:rPr lang="es-419" sz="1400" b="0" i="1" u="none" strike="noStrike" noProof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s-419" sz="1400" b="0" i="1" u="none" strike="noStrike" noProof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419" sz="14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21986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u="none" strike="noStrike" noProof="0" dirty="0">
                              <a:effectLst/>
                            </a:rPr>
                            <a:t>21</a:t>
                          </a:r>
                          <a:endParaRPr lang="es-419" sz="12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0.0568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419" sz="1400" b="0" i="1" u="none" strike="noStrike" noProof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s-419" sz="1400" b="0" i="1" u="none" strike="noStrike" noProof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sz="1400" b="0" i="1" u="none" strike="noStrike" noProof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s-419" sz="1400" b="0" i="1" u="none" strike="noStrike" noProof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s-419" sz="1400" b="0" i="1" u="none" strike="noStrike" noProof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2000, 21,</m:t>
                                        </m:r>
                                        <m:r>
                                          <a:rPr lang="es-419" sz="1400" b="0" i="1" u="none" strike="noStrike" noProof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  <m:r>
                                          <a:rPr lang="es-419" sz="1400" b="0" i="1" u="none" strike="noStrike" noProof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,2000</m:t>
                                        </m:r>
                                      </m:sub>
                                    </m:sSub>
                                    <m:r>
                                      <a:rPr lang="es-419" sz="1400" b="0" i="1" u="none" strike="noStrike" noProof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s-419" sz="1400" b="0" i="1" u="none" strike="noStrike" noProof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419" sz="1400" noProof="0" dirty="0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19050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400" noProof="0" dirty="0"/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4"/>
                      </a:ext>
                    </a:extLst>
                  </a:tr>
                  <a:tr h="19050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u="none" strike="noStrike" noProof="0" dirty="0">
                              <a:effectLst/>
                            </a:rPr>
                            <a:t>54</a:t>
                          </a:r>
                          <a:endParaRPr lang="es-419" sz="12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0.0243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400" noProof="0" dirty="0"/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5"/>
                      </a:ext>
                    </a:extLst>
                  </a:tr>
                  <a:tr h="19050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u="none" strike="noStrike" noProof="0" dirty="0">
                              <a:effectLst/>
                            </a:rPr>
                            <a:t>55</a:t>
                          </a:r>
                          <a:endParaRPr lang="es-419" sz="12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0.0219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400" noProof="0" dirty="0"/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4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9585608"/>
                  </p:ext>
                </p:extLst>
              </p:nvPr>
            </p:nvGraphicFramePr>
            <p:xfrm>
              <a:off x="431263" y="3048172"/>
              <a:ext cx="5723644" cy="181724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8831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0"/>
                        </a:ext>
                      </a:extLst>
                    </a:gridCol>
                    <a:gridCol w="424289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1"/>
                        </a:ext>
                      </a:extLst>
                    </a:gridCol>
                    <a:gridCol w="465023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2"/>
                        </a:ext>
                      </a:extLst>
                    </a:gridCol>
                    <a:gridCol w="693738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3"/>
                        </a:ext>
                      </a:extLst>
                    </a:gridCol>
                    <a:gridCol w="66821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4"/>
                        </a:ext>
                      </a:extLst>
                    </a:gridCol>
                    <a:gridCol w="777903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5"/>
                        </a:ext>
                      </a:extLst>
                    </a:gridCol>
                    <a:gridCol w="2106166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6"/>
                        </a:ext>
                      </a:extLst>
                    </a:gridCol>
                  </a:tblGrid>
                  <a:tr h="2228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b="1" u="none" strike="noStrike" noProof="0" dirty="0" err="1">
                              <a:effectLst/>
                            </a:rPr>
                            <a:t>Year</a:t>
                          </a:r>
                          <a:endParaRPr lang="es-419" sz="1200" b="1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b="1" u="none" strike="noStrike" noProof="0" dirty="0">
                              <a:effectLst/>
                            </a:rPr>
                            <a:t>Sex</a:t>
                          </a:r>
                          <a:endParaRPr lang="es-419" sz="1200" b="1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b="1" u="none" strike="noStrike" noProof="0" dirty="0">
                              <a:effectLst/>
                            </a:rPr>
                            <a:t>Age</a:t>
                          </a:r>
                          <a:endParaRPr lang="es-419" sz="1200" b="1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b="1" u="none" strike="noStrike" noProof="0" dirty="0">
                              <a:effectLst/>
                            </a:rPr>
                            <a:t>Kin</a:t>
                          </a:r>
                          <a:endParaRPr lang="es-419" sz="1200" b="1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b="1" u="none" strike="noStrike" noProof="0" dirty="0">
                              <a:effectLst/>
                            </a:rPr>
                            <a:t>Age </a:t>
                          </a:r>
                          <a:r>
                            <a:rPr lang="es-419" sz="1200" b="1" u="none" strike="noStrike" noProof="0" dirty="0" err="1">
                              <a:effectLst/>
                            </a:rPr>
                            <a:t>kin</a:t>
                          </a:r>
                          <a:endParaRPr lang="es-419" sz="1200" b="1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b="1" u="none" strike="noStrike" noProof="0" dirty="0">
                              <a:effectLst/>
                            </a:rPr>
                            <a:t>Living (n)</a:t>
                          </a:r>
                          <a:endParaRPr lang="es-419" sz="1200" b="1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400" b="1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Probabilidad de </a:t>
                          </a:r>
                          <a:r>
                            <a:rPr lang="es-419" sz="1400" b="1" i="0" u="none" strike="noStrike" noProof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sobrevivir</a:t>
                          </a:r>
                          <a:endParaRPr lang="es-419" sz="1400" b="1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0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4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1"/>
                      </a:ext>
                    </a:extLst>
                  </a:tr>
                  <a:tr h="239967">
                    <a:tc rowSpan="5"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u="none" strike="noStrike" noProof="0" dirty="0">
                              <a:effectLst/>
                            </a:rPr>
                            <a:t>2023</a:t>
                          </a:r>
                          <a:endParaRPr lang="es-419" sz="12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5"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u="none" strike="noStrike" noProof="0" dirty="0">
                              <a:effectLst/>
                            </a:rPr>
                            <a:t>h</a:t>
                          </a:r>
                          <a:endParaRPr lang="es-419" sz="12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5"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u="none" strike="noStrike" noProof="0" dirty="0">
                              <a:effectLst/>
                            </a:rPr>
                            <a:t>42</a:t>
                          </a:r>
                          <a:endParaRPr lang="es-419" sz="12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5"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u="none" strike="noStrike" noProof="0" dirty="0">
                              <a:effectLst/>
                            </a:rPr>
                            <a:t>hermana</a:t>
                          </a:r>
                          <a:endParaRPr lang="es-419" sz="12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u="none" strike="noStrike" noProof="0" dirty="0">
                              <a:effectLst/>
                            </a:rPr>
                            <a:t>20</a:t>
                          </a:r>
                          <a:endParaRPr lang="es-419" sz="12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0.0549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171965" t="-202500" b="-50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2"/>
                      </a:ext>
                    </a:extLst>
                  </a:tr>
                  <a:tr h="23996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u="none" strike="noStrike" noProof="0" dirty="0">
                              <a:effectLst/>
                            </a:rPr>
                            <a:t>21</a:t>
                          </a:r>
                          <a:endParaRPr lang="es-419" sz="12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0.0568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171965" t="-310256" b="-420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3"/>
                      </a:ext>
                    </a:extLst>
                  </a:tr>
                  <a:tr h="22288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400" noProof="0" dirty="0"/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4"/>
                      </a:ext>
                    </a:extLst>
                  </a:tr>
                  <a:tr h="22288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u="none" strike="noStrike" noProof="0" dirty="0">
                              <a:effectLst/>
                            </a:rPr>
                            <a:t>54</a:t>
                          </a:r>
                          <a:endParaRPr lang="es-419" sz="12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0.0243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400" noProof="0" dirty="0"/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5"/>
                      </a:ext>
                    </a:extLst>
                  </a:tr>
                  <a:tr h="22288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u="none" strike="noStrike" noProof="0" dirty="0">
                              <a:effectLst/>
                            </a:rPr>
                            <a:t>55</a:t>
                          </a:r>
                          <a:endParaRPr lang="es-419" sz="12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0.0219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400" noProof="0" dirty="0"/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419" sz="12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419" sz="14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noProof="0" dirty="0"/>
              <a:t>3. Estimación de personas en </a:t>
            </a:r>
            <a:r>
              <a:rPr lang="es-419" noProof="0" dirty="0" smtClean="0"/>
              <a:t>duelo</a:t>
            </a:r>
            <a:endParaRPr lang="es-419" noProof="0" dirty="0"/>
          </a:p>
        </p:txBody>
      </p:sp>
      <p:sp>
        <p:nvSpPr>
          <p:cNvPr id="3" name="Right Brace 2"/>
          <p:cNvSpPr/>
          <p:nvPr/>
        </p:nvSpPr>
        <p:spPr>
          <a:xfrm>
            <a:off x="5868023" y="3390001"/>
            <a:ext cx="511628" cy="142722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725272" y="3920381"/>
                <a:ext cx="5039713" cy="860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419" sz="2200" b="1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sz="2200" b="1" i="1" noProof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s-419" sz="2200" b="1" i="1" noProof="0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s-419" sz="2200" b="1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sz="22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s-419" sz="2200" b="1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sz="2200" b="1" i="1" noProof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s-419" sz="2200" b="1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sz="2200" b="1" i="1" noProof="0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s-419" sz="2200" b="1" i="1" noProof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  <m:r>
                        <a:rPr lang="es-419" sz="2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s-419" sz="220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s-419" sz="2200" b="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419" sz="2200" b="0" i="1" noProof="0" smtClean="0">
                              <a:latin typeface="Cambria Math" panose="02040503050406030204" pitchFamily="18" charset="0"/>
                            </a:rPr>
                            <m:t>𝑒𝑥𝑜</m:t>
                          </m:r>
                          <m:r>
                            <a:rPr lang="es-419" sz="22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2200" b="0" i="1" noProof="0" smtClean="0">
                              <a:latin typeface="Cambria Math" panose="02040503050406030204" pitchFamily="18" charset="0"/>
                            </a:rPr>
                            <m:t>𝑓𝑎𝑚</m:t>
                          </m:r>
                          <m:r>
                            <a:rPr lang="es-419" sz="22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2200" b="0" i="1" noProof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  <m:sup/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s-419" sz="2200" i="1" noProof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419" sz="2200" b="0" i="1" noProof="0" smtClean="0">
                                  <a:latin typeface="Cambria Math" panose="02040503050406030204" pitchFamily="18" charset="0"/>
                                </a:rPr>
                                <m:t>𝑒𝑑𝑎𝑑</m:t>
                              </m:r>
                              <m:r>
                                <a:rPr lang="es-419" sz="2200" b="0" i="1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419" sz="2200" b="0" i="1" noProof="0" smtClean="0">
                                  <a:latin typeface="Cambria Math" panose="02040503050406030204" pitchFamily="18" charset="0"/>
                                </a:rPr>
                                <m:t>𝑓𝑎𝑚</m:t>
                              </m:r>
                              <m:r>
                                <a:rPr lang="es-419" sz="2200" b="0" i="1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419" sz="2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s-419" sz="2200" b="1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sz="2200" b="1" i="1" noProof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419" sz="2200" b="1" i="1" noProof="0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s-419" sz="2200" b="1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419" sz="2200" b="1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sz="2200" b="1" i="1" noProof="0" smtClean="0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s-419" sz="2200" b="1" i="1" noProof="0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  <m:r>
                                        <a:rPr lang="es-419" sz="2200" b="1" i="1" noProof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s-419" sz="2200" b="1" i="1" noProof="0" smtClean="0">
                                          <a:latin typeface="Cambria Math" panose="02040503050406030204" pitchFamily="18" charset="0"/>
                                        </a:rPr>
                                        <m:t>𝒈</m:t>
                                      </m:r>
                                      <m:r>
                                        <a:rPr lang="es-419" sz="2200" b="1" i="1" noProof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s-419" sz="2200" b="1" i="1" noProof="0" smtClean="0"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sub>
                                  </m:sSub>
                                  <m:r>
                                    <a:rPr lang="es-419" sz="2200" b="1" i="1" noProof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419" sz="2200" b="1" i="1" noProof="0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s-419" sz="2200" noProof="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272" y="3920381"/>
                <a:ext cx="5039713" cy="86017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936443" y="3077500"/>
            <a:ext cx="45462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Probabilidades de no perder un </a:t>
            </a:r>
            <a:r>
              <a:rPr lang="es-ES" sz="2000" dirty="0" smtClean="0"/>
              <a:t>pariente </a:t>
            </a:r>
            <a:r>
              <a:rPr lang="es-ES" sz="2000" i="1" dirty="0" smtClean="0"/>
              <a:t>k </a:t>
            </a:r>
            <a:r>
              <a:rPr lang="es-ES" sz="2000" dirty="0" smtClean="0"/>
              <a:t>en </a:t>
            </a:r>
            <a:r>
              <a:rPr lang="es-ES" sz="2000" dirty="0"/>
              <a:t>2000, según la edad y el sexo del </a:t>
            </a:r>
            <a:r>
              <a:rPr lang="es-ES" sz="2000" b="1" i="1" dirty="0" smtClean="0">
                <a:solidFill>
                  <a:srgbClr val="0070C0"/>
                </a:solidFill>
              </a:rPr>
              <a:t>ego</a:t>
            </a:r>
            <a:endParaRPr lang="es-419" sz="2000" b="1" i="1" noProof="0" dirty="0">
              <a:solidFill>
                <a:srgbClr val="0070C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96940" y="1564073"/>
            <a:ext cx="5912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2800" b="1" noProof="0" dirty="0" smtClean="0"/>
              <a:t>Riesgo de pérdida por tipo de pariente</a:t>
            </a:r>
            <a:endParaRPr lang="es-419" sz="2800" b="1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1227295" y="2101357"/>
            <a:ext cx="97374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 smtClean="0"/>
              <a:t>La probabilidad total de no perder un tipo de familiar es el producto de todas las probabilidades de supervivencia entre sexos y edades de ese tipo de pariente</a:t>
            </a:r>
            <a:endParaRPr lang="es-419" sz="2000" b="1" i="1" noProof="0" dirty="0">
              <a:solidFill>
                <a:srgbClr val="0070C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36988" y="5172198"/>
            <a:ext cx="973740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 smtClean="0"/>
              <a:t>Incidencia</a:t>
            </a:r>
            <a:endParaRPr lang="es-ES" sz="2400" dirty="0" smtClean="0"/>
          </a:p>
          <a:p>
            <a:pPr algn="ctr"/>
            <a:r>
              <a:rPr lang="es-ES" sz="2400" dirty="0" smtClean="0"/>
              <a:t>Multiplicación de la probabilidad de perder al menos un pariente por la población expuesta en cada año, según el sexo y la edad del </a:t>
            </a:r>
            <a:r>
              <a:rPr lang="es-ES" sz="2400" b="1" i="1" dirty="0">
                <a:solidFill>
                  <a:srgbClr val="0070C0"/>
                </a:solidFill>
              </a:rPr>
              <a:t>ego</a:t>
            </a:r>
            <a:endParaRPr lang="es-419" sz="2400" b="1" i="1" noProof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072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noProof="0" dirty="0"/>
              <a:t>3. Estimación de personas en </a:t>
            </a:r>
            <a:r>
              <a:rPr lang="es-419" noProof="0" dirty="0" smtClean="0"/>
              <a:t>duelo</a:t>
            </a:r>
            <a:endParaRPr lang="es-419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008301" y="2753001"/>
            <a:ext cx="35630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2000" noProof="0" dirty="0"/>
              <a:t>Probabilidad </a:t>
            </a:r>
            <a:r>
              <a:rPr lang="es-419" sz="2000" noProof="0" dirty="0" err="1"/>
              <a:t>intra</a:t>
            </a:r>
            <a:r>
              <a:rPr lang="es-419" sz="2000" noProof="0" dirty="0"/>
              <a:t>-cohorte acumulada de que todos los familiares sobrevivan, hasta </a:t>
            </a:r>
            <a:r>
              <a:rPr lang="es-419" sz="2000" noProof="0" dirty="0" smtClean="0"/>
              <a:t>el año </a:t>
            </a:r>
            <a:r>
              <a:rPr lang="es-419" sz="2000" i="1" noProof="0" dirty="0" smtClean="0"/>
              <a:t>y</a:t>
            </a:r>
            <a:r>
              <a:rPr lang="es-419" sz="2000" noProof="0" dirty="0" smtClean="0"/>
              <a:t> </a:t>
            </a:r>
            <a:r>
              <a:rPr lang="es-419" sz="2000" noProof="0" dirty="0"/>
              <a:t>(por tipo de familiar)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83345" y="4217044"/>
                <a:ext cx="4445900" cy="1186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419" sz="280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sz="280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sz="280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2800" b="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419" sz="28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sz="2800" b="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419" sz="28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sz="2800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s-419" sz="280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419" sz="2800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s-419" sz="28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s-419" sz="280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419" sz="2800" b="0" i="1" noProof="0" smtClean="0">
                              <a:latin typeface="Cambria Math" panose="02040503050406030204" pitchFamily="18" charset="0"/>
                            </a:rPr>
                            <m:t>𝑒𝑑𝑎𝑑</m:t>
                          </m:r>
                          <m:r>
                            <a:rPr lang="es-419" sz="28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2800" b="0" i="1" noProof="0" smtClean="0">
                              <a:latin typeface="Cambria Math" panose="02040503050406030204" pitchFamily="18" charset="0"/>
                            </a:rPr>
                            <m:t>𝑒𝑔𝑜</m:t>
                          </m:r>
                          <m:r>
                            <a:rPr lang="es-419" sz="28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28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s-419" sz="2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419" sz="280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419" sz="2800" i="1" noProof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419" sz="2800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419" sz="280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419" sz="2800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419" sz="28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s-419" sz="2800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419" sz="2800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s-419" sz="280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s-419" sz="2800" noProof="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45" y="4217044"/>
                <a:ext cx="4445900" cy="118699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cxnSpLocks/>
          </p:cNvCxnSpPr>
          <p:nvPr/>
        </p:nvCxnSpPr>
        <p:spPr>
          <a:xfrm>
            <a:off x="6864567" y="3919997"/>
            <a:ext cx="1188720" cy="0"/>
          </a:xfrm>
          <a:prstGeom prst="straightConnector1">
            <a:avLst/>
          </a:prstGeom>
          <a:ln w="730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53287" y="2768631"/>
            <a:ext cx="34794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Probabilidad de perder al menos un familiar a lo largo de la vida, hasta </a:t>
            </a:r>
            <a:r>
              <a:rPr lang="es-ES" sz="2000" dirty="0" smtClean="0"/>
              <a:t>el año </a:t>
            </a:r>
            <a:r>
              <a:rPr lang="es-ES" sz="2000" i="1" dirty="0" smtClean="0"/>
              <a:t>y</a:t>
            </a:r>
            <a:r>
              <a:rPr lang="es-ES" sz="2000" dirty="0" smtClean="0"/>
              <a:t> </a:t>
            </a:r>
            <a:r>
              <a:rPr lang="es-ES" sz="2000" dirty="0"/>
              <a:t>(por categoría de parentesco)</a:t>
            </a:r>
            <a:endParaRPr lang="es-419" sz="2000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7527725" y="4434928"/>
                <a:ext cx="4445900" cy="594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419" sz="280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sz="280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sz="280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2800" b="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419" sz="28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sz="2800" b="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419" sz="28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sz="2800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s-419" sz="2800" b="0" i="1" noProof="0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s-419" sz="280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419" sz="2800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s-419" sz="2800" b="0" i="1" noProof="0" smtClean="0">
                          <a:latin typeface="Cambria Math" panose="02040503050406030204" pitchFamily="18" charset="0"/>
                        </a:rPr>
                        <m:t>=1−</m:t>
                      </m:r>
                      <m:sSubSup>
                        <m:sSubSupPr>
                          <m:ctrlPr>
                            <a:rPr lang="es-419" sz="280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sz="280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sz="280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280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419" sz="280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sz="28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419" sz="280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sz="2800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s-419" sz="280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419" sz="280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s-419" sz="2800" noProof="0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7725" y="4434928"/>
                <a:ext cx="4445900" cy="59477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893119" y="1766123"/>
            <a:ext cx="64990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2800" b="1" noProof="0" dirty="0"/>
              <a:t>Acumulación del riesgo en el curso de </a:t>
            </a:r>
            <a:r>
              <a:rPr lang="es-419" sz="2800" b="1" noProof="0" dirty="0" smtClean="0"/>
              <a:t>vida</a:t>
            </a:r>
            <a:endParaRPr lang="es-419" sz="2800" b="1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EC548A7B-FB3B-4EE0-8EB3-074C55F085AA}"/>
              </a:ext>
            </a:extLst>
          </p:cNvPr>
          <p:cNvGrpSpPr/>
          <p:nvPr/>
        </p:nvGrpSpPr>
        <p:grpSpPr>
          <a:xfrm>
            <a:off x="4611222" y="3414721"/>
            <a:ext cx="2173619" cy="1742119"/>
            <a:chOff x="4348841" y="4758676"/>
            <a:chExt cx="2173619" cy="1742119"/>
          </a:xfrm>
        </p:grpSpPr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D7F32A32-2E70-48E5-8A31-889BD199F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48841" y="4758676"/>
              <a:ext cx="2173619" cy="1734199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882C26EE-97CF-4DC7-8B15-5D8B4648AFB2}"/>
                </a:ext>
              </a:extLst>
            </p:cNvPr>
            <p:cNvSpPr/>
            <p:nvPr/>
          </p:nvSpPr>
          <p:spPr>
            <a:xfrm>
              <a:off x="4559172" y="6290852"/>
              <a:ext cx="1913965" cy="531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D2542BF6-F440-40D6-99F6-1C1C6FC82C76}"/>
                </a:ext>
              </a:extLst>
            </p:cNvPr>
            <p:cNvSpPr txBox="1"/>
            <p:nvPr/>
          </p:nvSpPr>
          <p:spPr>
            <a:xfrm>
              <a:off x="6096000" y="6254574"/>
              <a:ext cx="2455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1000" b="1" i="1" noProof="0" dirty="0" smtClean="0"/>
                <a:t>y</a:t>
              </a:r>
              <a:endParaRPr lang="es-419" sz="1000" b="1" i="1" noProof="0" dirty="0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E5B108F7-C526-461B-85EF-9C847412FE85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 flipH="1">
              <a:off x="6218790" y="4758676"/>
              <a:ext cx="110149" cy="149589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/>
          <p:cNvCxnSpPr/>
          <p:nvPr/>
        </p:nvCxnSpPr>
        <p:spPr>
          <a:xfrm flipV="1">
            <a:off x="5031300" y="3519509"/>
            <a:ext cx="1503040" cy="1395070"/>
          </a:xfrm>
          <a:prstGeom prst="straightConnector1">
            <a:avLst/>
          </a:prstGeom>
          <a:ln w="539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85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4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noProof="0" dirty="0"/>
              <a:t>3</a:t>
            </a:r>
            <a:r>
              <a:rPr lang="es-419" dirty="0"/>
              <a:t>. Estimación de personas en </a:t>
            </a:r>
            <a:r>
              <a:rPr lang="es-419" dirty="0" smtClean="0"/>
              <a:t>duelo</a:t>
            </a:r>
            <a:endParaRPr lang="es-419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ntent Placeholder 9"/>
              <p:cNvSpPr>
                <a:spLocks noGrp="1"/>
              </p:cNvSpPr>
              <p:nvPr>
                <p:ph idx="1"/>
              </p:nvPr>
            </p:nvSpPr>
            <p:spPr>
              <a:xfrm>
                <a:off x="931246" y="2715536"/>
                <a:ext cx="10515600" cy="3583148"/>
              </a:xfrm>
            </p:spPr>
            <p:txBody>
              <a:bodyPr>
                <a:normAutofit/>
              </a:bodyPr>
              <a:lstStyle/>
              <a:p>
                <a:r>
                  <a:rPr lang="es-419" sz="2000" i="1" noProof="0" dirty="0" smtClean="0"/>
                  <a:t>Ejemplo: familia cercana</a:t>
                </a:r>
                <a:endParaRPr lang="es-419" sz="2000" noProof="0" dirty="0" smtClean="0"/>
              </a:p>
              <a:p>
                <a:pPr marL="457200" lvl="1" indent="0">
                  <a:buNone/>
                </a:pPr>
                <a:endParaRPr lang="es-419" sz="1400" i="1" noProof="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419" b="1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b="1" i="1" noProof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s-419" b="1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b="1" i="1" noProof="0" smtClean="0">
                              <a:latin typeface="Cambria Math" panose="02040503050406030204" pitchFamily="18" charset="0"/>
                            </a:rPr>
                            <m:t>𝒄𝒆𝒓𝒄𝒂𝒏𝒂</m:t>
                          </m:r>
                          <m:r>
                            <a:rPr lang="es-419" b="1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b="1" i="1" noProof="0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s-419" b="1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b="1" i="1" noProof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s-419" b="1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b="1" i="1" noProof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  <m:sup>
                          <m:r>
                            <a:rPr lang="es-419" b="1" i="1" noProof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419" b="1" i="1" noProof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p>
                      </m:sSubSup>
                      <m:r>
                        <a:rPr lang="es-419" sz="28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419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𝑚𝑎𝑑𝑟𝑒𝑠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s-419" i="1" noProof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  <m:sup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s-419" i="1" noProof="0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es-419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h𝑒𝑟𝑚𝑎𝑛𝑎𝑠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s-419" i="1" noProof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  <m:sup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s-419" i="1" noProof="0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es-419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h𝑖𝑗𝑎𝑠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s-419" i="1" noProof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  <m:sup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s-419" i="1" noProof="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s-419" sz="1200" i="1" noProof="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419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𝑐𝑒𝑟𝑐𝑎𝑛𝑎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s-419" i="1" noProof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  <m:sup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s-419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419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𝑐𝑒𝑟𝑐𝑎𝑛𝑎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s-419" i="1" noProof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  <m:sup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s-419" noProof="0" dirty="0"/>
              </a:p>
              <a:p>
                <a:endParaRPr lang="es-419" sz="300" noProof="0" dirty="0"/>
              </a:p>
              <a:p>
                <a:endParaRPr lang="es-419" i="1" noProof="0" dirty="0" smtClean="0"/>
              </a:p>
              <a:p>
                <a:endParaRPr lang="es-419" sz="1400" i="1" noProof="0" dirty="0"/>
              </a:p>
              <a:p>
                <a:pPr marL="0" indent="0" algn="ctr">
                  <a:buNone/>
                </a:pPr>
                <a:endParaRPr lang="es-419" sz="800" b="0" i="1" noProof="0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419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𝑐𝑒𝑟𝑐𝑎𝑛𝑎</m:t>
                          </m:r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s-419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419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𝑐𝑒𝑟𝑐𝑎𝑛𝑎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&gt;0</m:t>
                          </m:r>
                          <m:r>
                            <a:rPr lang="es-419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m:rPr>
                          <m:nor/>
                        </m:rPr>
                        <a:rPr lang="es-419" b="0" i="0" noProof="0" smtClean="0"/>
                        <m:t>∗</m:t>
                      </m:r>
                      <m:sSub>
                        <m:sSubPr>
                          <m:ctrlPr>
                            <a:rPr lang="es-419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𝑝𝑜𝑝</m:t>
                          </m:r>
                        </m:e>
                        <m:sub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s-419" noProof="0" dirty="0" smtClean="0"/>
              </a:p>
            </p:txBody>
          </p:sp>
        </mc:Choice>
        <mc:Fallback>
          <p:sp>
            <p:nvSpPr>
              <p:cNvPr id="15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1246" y="2715536"/>
                <a:ext cx="10515600" cy="3583148"/>
              </a:xfrm>
              <a:blipFill rotWithShape="0">
                <a:blip r:embed="rId2"/>
                <a:stretch>
                  <a:fillRect l="-522" t="-1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>
            <a:extLst>
              <a:ext uri="{FF2B5EF4-FFF2-40B4-BE49-F238E27FC236}">
                <a16:creationId xmlns="" xmlns:a16="http://schemas.microsoft.com/office/drawing/2014/main" id="{96254DD9-2D6F-4267-AD1E-3A7DC62E731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84353" y="2985625"/>
            <a:ext cx="2323081" cy="11766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15613" y="1385149"/>
            <a:ext cx="37607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2800" b="1" noProof="0" dirty="0" smtClean="0"/>
              <a:t>Agrupaciones familiares</a:t>
            </a:r>
            <a:endParaRPr lang="es-419" sz="2800" b="1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1227295" y="1781085"/>
            <a:ext cx="97374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 smtClean="0"/>
              <a:t>La probabilidad total de no perder a nadie del grupo familiar es el producto de todas las probabilidades de supervivencia entre tipos de pariente</a:t>
            </a:r>
            <a:endParaRPr lang="es-419" sz="2000" b="1" i="1" noProof="0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67180" y="4824982"/>
            <a:ext cx="90224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2800" dirty="0" smtClean="0"/>
              <a:t>Prevalencia: </a:t>
            </a:r>
            <a:r>
              <a:rPr lang="es-419" sz="2800" b="1" dirty="0" smtClean="0"/>
              <a:t>De </a:t>
            </a:r>
            <a:r>
              <a:rPr lang="es-419" sz="2800" b="1" dirty="0"/>
              <a:t>probabilidades a personas en </a:t>
            </a:r>
            <a:r>
              <a:rPr lang="es-419" sz="2800" b="1" dirty="0" smtClean="0"/>
              <a:t>duelo</a:t>
            </a:r>
            <a:r>
              <a:rPr lang="es-419" sz="2800" dirty="0" smtClean="0"/>
              <a:t> (año </a:t>
            </a:r>
            <a:r>
              <a:rPr lang="es-419" sz="2800" i="1" dirty="0" smtClean="0"/>
              <a:t>y</a:t>
            </a:r>
            <a:r>
              <a:rPr lang="es-419" sz="2800" dirty="0" smtClean="0"/>
              <a:t>)</a:t>
            </a:r>
            <a:endParaRPr lang="es-419" sz="2800" dirty="0"/>
          </a:p>
        </p:txBody>
      </p:sp>
    </p:spTree>
    <p:extLst>
      <p:ext uri="{BB962C8B-B14F-4D97-AF65-F5344CB8AC3E}">
        <p14:creationId xmlns:p14="http://schemas.microsoft.com/office/powerpoint/2010/main" val="1622214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noProof="0" dirty="0" smtClean="0"/>
              <a:t>4</a:t>
            </a:r>
            <a:r>
              <a:rPr lang="es-419" dirty="0" smtClean="0"/>
              <a:t>. Multiplicadores de duelo</a:t>
            </a:r>
            <a:endParaRPr lang="es-419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ntent Placeholder 9"/>
              <p:cNvSpPr>
                <a:spLocks noGrp="1"/>
              </p:cNvSpPr>
              <p:nvPr>
                <p:ph idx="1"/>
              </p:nvPr>
            </p:nvSpPr>
            <p:spPr>
              <a:xfrm>
                <a:off x="919041" y="2636628"/>
                <a:ext cx="10086249" cy="1350527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:endParaRPr lang="es-419" sz="1400" i="1" noProof="0" dirty="0" smtClean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1" i="1">
                              <a:latin typeface="Cambria Math" panose="02040503050406030204" pitchFamily="18" charset="0"/>
                            </a:rPr>
                            <m:t>𝑴𝒖𝒍𝒕𝒊𝒑𝒍𝒊𝒄𝒂𝒅𝒐𝒓</m:t>
                          </m:r>
                        </m:e>
                        <m:sub>
                          <m:r>
                            <a:rPr lang="es-419" b="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s-419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s-ES" i="1"/>
                            <m:t>personas</m:t>
                          </m:r>
                          <m:r>
                            <m:rPr>
                              <m:nor/>
                            </m:rPr>
                            <a:rPr lang="es-ES" i="1"/>
                            <m:t> </m:t>
                          </m:r>
                          <m:r>
                            <m:rPr>
                              <m:nor/>
                            </m:rPr>
                            <a:rPr lang="es-ES" i="1"/>
                            <m:t>en</m:t>
                          </m:r>
                          <m:r>
                            <m:rPr>
                              <m:nor/>
                            </m:rPr>
                            <a:rPr lang="es-ES" i="1"/>
                            <m:t> </m:t>
                          </m:r>
                          <m:r>
                            <m:rPr>
                              <m:nor/>
                            </m:rPr>
                            <a:rPr lang="es-ES" i="1"/>
                            <m:t>duelo</m:t>
                          </m:r>
                          <m:r>
                            <m:rPr>
                              <m:nor/>
                            </m:rPr>
                            <a:rPr lang="es-ES" i="1"/>
                            <m:t> </m:t>
                          </m:r>
                          <m:r>
                            <m:rPr>
                              <m:nor/>
                            </m:rPr>
                            <a:rPr lang="es-ES" i="1"/>
                            <m:t>por</m:t>
                          </m:r>
                          <m:r>
                            <m:rPr>
                              <m:nor/>
                            </m:rPr>
                            <a:rPr lang="es-ES" i="1"/>
                            <m:t> </m:t>
                          </m:r>
                          <m:r>
                            <m:rPr>
                              <m:nor/>
                            </m:rPr>
                            <a:rPr lang="es-ES" i="1"/>
                            <m:t>pariente</m:t>
                          </m:r>
                          <m:r>
                            <m:rPr>
                              <m:nor/>
                            </m:rPr>
                            <a:rPr lang="es-419" b="0" i="1" smtClean="0"/>
                            <m:t>s</m:t>
                          </m:r>
                          <m:r>
                            <m:rPr>
                              <m:nor/>
                            </m:rPr>
                            <a:rPr lang="es-ES" i="1"/>
                            <m:t> 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sSubSup>
                            <m:sSubSup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i="1"/>
                            <m:t>n</m:t>
                          </m:r>
                          <m:r>
                            <m:rPr>
                              <m:nor/>
                            </m:rPr>
                            <a:rPr lang="en-US" i="1"/>
                            <m:t>ú</m:t>
                          </m:r>
                          <m:r>
                            <m:rPr>
                              <m:nor/>
                            </m:rPr>
                            <a:rPr lang="en-US" i="1"/>
                            <m:t>mero</m:t>
                          </m:r>
                          <m:r>
                            <m:rPr>
                              <m:nor/>
                            </m:rPr>
                            <a:rPr lang="en-US" i="1"/>
                            <m:t> </m:t>
                          </m:r>
                          <m:r>
                            <m:rPr>
                              <m:nor/>
                            </m:rPr>
                            <a:rPr lang="en-US" i="1"/>
                            <m:t>de</m:t>
                          </m:r>
                          <m:r>
                            <m:rPr>
                              <m:nor/>
                            </m:rPr>
                            <a:rPr lang="en-US" i="1"/>
                            <m:t> </m:t>
                          </m:r>
                          <m:r>
                            <m:rPr>
                              <m:nor/>
                            </m:rPr>
                            <a:rPr lang="es-419" b="0" i="1" smtClean="0"/>
                            <m:t>muertes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sSubSup>
                            <m:sSubSup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b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419" i="1" noProof="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s-419" sz="1200" i="1" noProof="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9041" y="2636628"/>
                <a:ext cx="10086249" cy="1350527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664098" y="1791224"/>
            <a:ext cx="6863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2800" b="1" noProof="0" dirty="0" smtClean="0"/>
              <a:t>Cuántas personas afectadas por cada muerte</a:t>
            </a:r>
            <a:endParaRPr lang="es-419" sz="2800" b="1" noProof="0" dirty="0"/>
          </a:p>
        </p:txBody>
      </p:sp>
    </p:spTree>
    <p:extLst>
      <p:ext uri="{BB962C8B-B14F-4D97-AF65-F5344CB8AC3E}">
        <p14:creationId xmlns:p14="http://schemas.microsoft.com/office/powerpoint/2010/main" val="297122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013" y="1368838"/>
            <a:ext cx="11324030" cy="1325563"/>
          </a:xfrm>
        </p:spPr>
        <p:txBody>
          <a:bodyPr>
            <a:noAutofit/>
          </a:bodyPr>
          <a:lstStyle/>
          <a:p>
            <a:pPr algn="ctr"/>
            <a:r>
              <a:rPr lang="es-419" sz="4400" b="1" dirty="0"/>
              <a:t>A continuación: el caso colombiano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101" y="3493996"/>
            <a:ext cx="7166530" cy="22761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81486" y="3166646"/>
            <a:ext cx="2590652" cy="25906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21101" y="2839530"/>
            <a:ext cx="4600000" cy="4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800" b="1" dirty="0"/>
              <a:t>Publicado en Population and Development Review,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486" y="5869530"/>
            <a:ext cx="2590652" cy="4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600" i="1" dirty="0"/>
              <a:t>QR del artículo</a:t>
            </a:r>
          </a:p>
        </p:txBody>
      </p:sp>
    </p:spTree>
    <p:extLst>
      <p:ext uri="{BB962C8B-B14F-4D97-AF65-F5344CB8AC3E}">
        <p14:creationId xmlns:p14="http://schemas.microsoft.com/office/powerpoint/2010/main" val="4001001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14" y="3652492"/>
            <a:ext cx="7036904" cy="30158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Conflicto Armado en Colombia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7303"/>
            <a:ext cx="9873343" cy="2051729"/>
          </a:xfrm>
        </p:spPr>
        <p:txBody>
          <a:bodyPr>
            <a:normAutofit lnSpcReduction="10000"/>
          </a:bodyPr>
          <a:lstStyle/>
          <a:p>
            <a:r>
              <a:rPr lang="es-419" sz="2600" dirty="0"/>
              <a:t>Empieza a inicios de los 1960s: </a:t>
            </a:r>
            <a:r>
              <a:rPr lang="es-ES" sz="2400" dirty="0"/>
              <a:t>Uno de los conflictos armados más largos en América Latina</a:t>
            </a:r>
            <a:endParaRPr lang="es-419" sz="2600" dirty="0"/>
          </a:p>
          <a:p>
            <a:pPr lvl="1"/>
            <a:r>
              <a:rPr lang="es-ES" sz="2000" dirty="0"/>
              <a:t>Conflicto político en el contexto de la Guerra Fría, enfrentando a guerrillas, paramilitares y fuerzas estatales</a:t>
            </a:r>
            <a:endParaRPr lang="es-419" sz="2200" dirty="0"/>
          </a:p>
          <a:p>
            <a:pPr lvl="1"/>
            <a:r>
              <a:rPr lang="es-ES" sz="2000" dirty="0"/>
              <a:t>1985-2018: Registros de más de </a:t>
            </a:r>
            <a:r>
              <a:rPr lang="es-ES" sz="2000" b="1" dirty="0"/>
              <a:t>450k homicidios</a:t>
            </a:r>
            <a:r>
              <a:rPr lang="es-ES" sz="2000" dirty="0"/>
              <a:t>, </a:t>
            </a:r>
            <a:r>
              <a:rPr lang="es-ES" sz="2000" b="1" dirty="0"/>
              <a:t>100k desapariciones forzadas</a:t>
            </a:r>
            <a:r>
              <a:rPr lang="es-ES" sz="2000" dirty="0"/>
              <a:t>, </a:t>
            </a:r>
            <a:r>
              <a:rPr lang="es-ES" sz="2000" b="1" dirty="0"/>
              <a:t>8 millones de personas desplazadas internamente</a:t>
            </a:r>
            <a:r>
              <a:rPr lang="es-ES" sz="2000" dirty="0"/>
              <a:t>, entre muchas otras violaciones de DDHH</a:t>
            </a:r>
            <a:endParaRPr lang="es-419" sz="2200" dirty="0"/>
          </a:p>
        </p:txBody>
      </p:sp>
      <p:sp>
        <p:nvSpPr>
          <p:cNvPr id="6" name="TextBox 5"/>
          <p:cNvSpPr txBox="1"/>
          <p:nvPr/>
        </p:nvSpPr>
        <p:spPr>
          <a:xfrm>
            <a:off x="7506032" y="3922641"/>
            <a:ext cx="440502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000" dirty="0">
                <a:solidFill>
                  <a:srgbClr val="FF0000"/>
                </a:solidFill>
              </a:rPr>
              <a:t>Dos periodos críticos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419" dirty="0"/>
              <a:t>Guerra de carteles (1985-1994)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419" dirty="0"/>
              <a:t>Confederación y expansión paramilitar y de guerrillas (1995-2002)</a:t>
            </a:r>
          </a:p>
          <a:p>
            <a:r>
              <a:rPr lang="es-ES" sz="2000" dirty="0">
                <a:solidFill>
                  <a:schemeClr val="accent1"/>
                </a:solidFill>
              </a:rPr>
              <a:t>Dos puntos de inflexión para la desescalada</a:t>
            </a:r>
            <a:endParaRPr lang="es-419" sz="20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Negociación con las AUC en 2002-2006</a:t>
            </a:r>
            <a:endParaRPr lang="es-419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Negociación con las FARC-EP en 2011-2016</a:t>
            </a:r>
            <a:endParaRPr lang="es-419" dirty="0"/>
          </a:p>
        </p:txBody>
      </p:sp>
      <p:sp>
        <p:nvSpPr>
          <p:cNvPr id="8" name="Oval 7"/>
          <p:cNvSpPr/>
          <p:nvPr/>
        </p:nvSpPr>
        <p:spPr>
          <a:xfrm>
            <a:off x="1319917" y="5255811"/>
            <a:ext cx="604299" cy="628153"/>
          </a:xfrm>
          <a:prstGeom prst="ellipse">
            <a:avLst/>
          </a:prstGeom>
          <a:solidFill>
            <a:srgbClr val="FF0000">
              <a:alpha val="27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9" name="Oval 8"/>
          <p:cNvSpPr/>
          <p:nvPr/>
        </p:nvSpPr>
        <p:spPr>
          <a:xfrm>
            <a:off x="2003730" y="4627658"/>
            <a:ext cx="604299" cy="628153"/>
          </a:xfrm>
          <a:prstGeom prst="ellipse">
            <a:avLst/>
          </a:prstGeom>
          <a:solidFill>
            <a:srgbClr val="FF0000">
              <a:alpha val="27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10" name="Oval 9"/>
          <p:cNvSpPr/>
          <p:nvPr/>
        </p:nvSpPr>
        <p:spPr>
          <a:xfrm>
            <a:off x="2587527" y="4213318"/>
            <a:ext cx="604299" cy="628153"/>
          </a:xfrm>
          <a:prstGeom prst="ellipse">
            <a:avLst/>
          </a:prstGeom>
          <a:solidFill>
            <a:schemeClr val="accent1">
              <a:alpha val="27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11" name="Oval 10"/>
          <p:cNvSpPr/>
          <p:nvPr/>
        </p:nvSpPr>
        <p:spPr>
          <a:xfrm>
            <a:off x="3303767" y="5076068"/>
            <a:ext cx="604299" cy="628153"/>
          </a:xfrm>
          <a:prstGeom prst="ellipse">
            <a:avLst/>
          </a:prstGeom>
          <a:solidFill>
            <a:schemeClr val="accent1">
              <a:alpha val="27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24918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smtClean="0"/>
              <a:t>Datos – Conflicto armado</a:t>
            </a:r>
            <a:endParaRPr lang="es-419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9707"/>
            <a:ext cx="10515600" cy="452231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419" sz="3000" b="1" dirty="0"/>
              <a:t>Informe final de la </a:t>
            </a:r>
            <a:r>
              <a:rPr lang="es-419" sz="3000" b="1" i="1" dirty="0"/>
              <a:t>Comisión de la verdad </a:t>
            </a:r>
            <a:r>
              <a:rPr lang="es-419" sz="3000" b="1" dirty="0"/>
              <a:t>(1985 - 2018) – proceso de paz con la guerrilla </a:t>
            </a:r>
            <a:r>
              <a:rPr lang="es-419" sz="3000" b="1" i="1" dirty="0"/>
              <a:t>FARC-EP</a:t>
            </a:r>
          </a:p>
          <a:p>
            <a:r>
              <a:rPr lang="es-419" sz="2400" dirty="0" smtClean="0"/>
              <a:t>Datos </a:t>
            </a:r>
            <a:r>
              <a:rPr lang="es-419" sz="2400" b="1" dirty="0" smtClean="0"/>
              <a:t>cuantitativos</a:t>
            </a:r>
            <a:r>
              <a:rPr lang="es-419" sz="2400" dirty="0" smtClean="0"/>
              <a:t> para la estimación de prevalencia (magnitud)</a:t>
            </a:r>
          </a:p>
          <a:p>
            <a:pPr lvl="1"/>
            <a:r>
              <a:rPr lang="es-419" sz="2000" dirty="0" smtClean="0"/>
              <a:t>Procesamiento </a:t>
            </a:r>
            <a:r>
              <a:rPr lang="es-419" sz="2000" dirty="0"/>
              <a:t>de datos por </a:t>
            </a:r>
            <a:r>
              <a:rPr lang="es-419" sz="2000" i="1" dirty="0"/>
              <a:t>Human </a:t>
            </a:r>
            <a:r>
              <a:rPr lang="es-419" sz="2000" i="1" dirty="0" err="1"/>
              <a:t>Rights</a:t>
            </a:r>
            <a:r>
              <a:rPr lang="es-419" sz="2000" i="1" dirty="0"/>
              <a:t> Data </a:t>
            </a:r>
            <a:r>
              <a:rPr lang="es-419" sz="2000" i="1" dirty="0" err="1"/>
              <a:t>Analysis</a:t>
            </a:r>
            <a:r>
              <a:rPr lang="es-419" sz="2000" i="1" dirty="0"/>
              <a:t> Group</a:t>
            </a:r>
            <a:r>
              <a:rPr lang="es-419" sz="2000" dirty="0"/>
              <a:t> (HRDAG)</a:t>
            </a:r>
          </a:p>
          <a:p>
            <a:pPr lvl="2"/>
            <a:r>
              <a:rPr lang="es-419" dirty="0"/>
              <a:t>Emparejamiento de casos entre más de 34 bases</a:t>
            </a:r>
          </a:p>
          <a:p>
            <a:pPr lvl="3"/>
            <a:r>
              <a:rPr lang="es-419" b="1" dirty="0"/>
              <a:t>Homicidios </a:t>
            </a:r>
            <a:r>
              <a:rPr lang="es-419" dirty="0"/>
              <a:t>por conflicto: </a:t>
            </a:r>
            <a:r>
              <a:rPr lang="en-US" dirty="0"/>
              <a:t>~</a:t>
            </a:r>
            <a:r>
              <a:rPr lang="es-419" b="1" dirty="0"/>
              <a:t>428K personas</a:t>
            </a:r>
          </a:p>
          <a:p>
            <a:pPr lvl="3"/>
            <a:r>
              <a:rPr lang="es-419" b="1" dirty="0"/>
              <a:t>Desapariciones forzadas </a:t>
            </a:r>
            <a:r>
              <a:rPr lang="es-419" dirty="0"/>
              <a:t>por conflicto: &gt;</a:t>
            </a:r>
            <a:r>
              <a:rPr lang="es-419" b="1" dirty="0"/>
              <a:t>100K personas</a:t>
            </a:r>
            <a:endParaRPr lang="es-419" dirty="0"/>
          </a:p>
          <a:p>
            <a:pPr lvl="2"/>
            <a:r>
              <a:rPr lang="es-419" dirty="0" smtClean="0"/>
              <a:t>100 replicas disponibles online, contando con imputación múltiple probabilística</a:t>
            </a:r>
            <a:endParaRPr lang="es-419" dirty="0"/>
          </a:p>
          <a:p>
            <a:pPr lvl="1"/>
            <a:r>
              <a:rPr lang="es-419" sz="2000" dirty="0"/>
              <a:t>Microdatos anonimizados con fecha de muerte/desaparición, edad (5y), género, lugar de </a:t>
            </a:r>
            <a:r>
              <a:rPr lang="es-419" sz="2000" dirty="0" smtClean="0"/>
              <a:t>ocurrencia</a:t>
            </a:r>
          </a:p>
          <a:p>
            <a:r>
              <a:rPr lang="es-419" sz="2400" dirty="0" smtClean="0"/>
              <a:t>Datos </a:t>
            </a:r>
            <a:r>
              <a:rPr lang="es-419" sz="2400" b="1" dirty="0" smtClean="0"/>
              <a:t>cualitativos</a:t>
            </a:r>
            <a:r>
              <a:rPr lang="es-419" sz="2400" dirty="0" smtClean="0"/>
              <a:t> de los informes finales para conformar un marco conceptual e interpretativo (intensidad)</a:t>
            </a:r>
          </a:p>
          <a:p>
            <a:pPr lvl="1"/>
            <a:r>
              <a:rPr lang="es-419" sz="2000" dirty="0" smtClean="0"/>
              <a:t>Darle un significado a los números… más allá de una contabilización “cruda” </a:t>
            </a:r>
          </a:p>
          <a:p>
            <a:pPr lvl="1"/>
            <a:r>
              <a:rPr lang="es-419" sz="2000" dirty="0" smtClean="0"/>
              <a:t>Informa sobre intencionalidad y formas en que se llevó a cabo la pérdida de familiares</a:t>
            </a:r>
          </a:p>
          <a:p>
            <a:pPr lvl="1"/>
            <a:r>
              <a:rPr lang="es-419" sz="2000" dirty="0" smtClean="0"/>
              <a:t>Marco interpretativo de las implicaciones a niveles individual, comunitario, social y político</a:t>
            </a:r>
            <a:endParaRPr lang="es-419" sz="2000" dirty="0"/>
          </a:p>
        </p:txBody>
      </p:sp>
    </p:spTree>
    <p:extLst>
      <p:ext uri="{BB962C8B-B14F-4D97-AF65-F5344CB8AC3E}">
        <p14:creationId xmlns:p14="http://schemas.microsoft.com/office/powerpoint/2010/main" val="3216051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DE56151-05CB-4D65-A8B0-8E34243706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49" y="2102764"/>
            <a:ext cx="8908135" cy="4454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072" y="220380"/>
            <a:ext cx="10782300" cy="1325563"/>
          </a:xfrm>
        </p:spPr>
        <p:txBody>
          <a:bodyPr>
            <a:normAutofit/>
          </a:bodyPr>
          <a:lstStyle/>
          <a:p>
            <a:r>
              <a:rPr lang="es-419" sz="4000" noProof="0" dirty="0"/>
              <a:t>Resultados: personas en duelo por conflicto 2018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33B2E3B-AA79-43B7-9DE2-EE5FBE9022FE}"/>
              </a:ext>
            </a:extLst>
          </p:cNvPr>
          <p:cNvSpPr txBox="1"/>
          <p:nvPr/>
        </p:nvSpPr>
        <p:spPr>
          <a:xfrm>
            <a:off x="9097156" y="2102764"/>
            <a:ext cx="26467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419" sz="2000" b="1" noProof="0" dirty="0"/>
              <a:t>19.1M al menos un familiar desde 1985 (</a:t>
            </a:r>
            <a:r>
              <a:rPr lang="es-419" sz="2000" b="1" noProof="0" dirty="0">
                <a:solidFill>
                  <a:srgbClr val="FF0000"/>
                </a:solidFill>
              </a:rPr>
              <a:t>40%</a:t>
            </a:r>
            <a:r>
              <a:rPr lang="es-419" sz="2000" b="1" noProof="0" dirty="0"/>
              <a:t> de la población)</a:t>
            </a:r>
          </a:p>
          <a:p>
            <a:pPr marL="182880" indent="-18288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419" sz="2000" b="1" noProof="0" dirty="0"/>
              <a:t>3.6M en la familia cercana (</a:t>
            </a:r>
            <a:r>
              <a:rPr lang="es-419" sz="2000" b="1" noProof="0" dirty="0">
                <a:solidFill>
                  <a:srgbClr val="FF0000"/>
                </a:solidFill>
              </a:rPr>
              <a:t>7.5%</a:t>
            </a:r>
            <a:r>
              <a:rPr lang="es-419" sz="2000" b="1" noProof="0" dirty="0"/>
              <a:t>)</a:t>
            </a:r>
          </a:p>
          <a:p>
            <a:pPr marL="182880" indent="-18288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419" sz="2000" b="1" noProof="0" dirty="0"/>
              <a:t>Desaparición forzada contribuye con </a:t>
            </a:r>
            <a:r>
              <a:rPr lang="es-419" sz="2000" b="1" noProof="0" dirty="0" smtClean="0"/>
              <a:t>un </a:t>
            </a:r>
            <a:r>
              <a:rPr lang="es-419" sz="2000" b="1" noProof="0" dirty="0"/>
              <a:t>~</a:t>
            </a:r>
            <a:r>
              <a:rPr lang="es-419" sz="2000" b="1" noProof="0" dirty="0">
                <a:solidFill>
                  <a:srgbClr val="FF0000"/>
                </a:solidFill>
              </a:rPr>
              <a:t>25</a:t>
            </a:r>
            <a:r>
              <a:rPr lang="es-419" sz="2000" b="1" noProof="0">
                <a:solidFill>
                  <a:srgbClr val="FF0000"/>
                </a:solidFill>
              </a:rPr>
              <a:t>%</a:t>
            </a:r>
            <a:r>
              <a:rPr lang="es-419" sz="2000" b="1" noProof="0"/>
              <a:t> </a:t>
            </a:r>
            <a:r>
              <a:rPr lang="es-419" sz="2000" b="1" noProof="0" smtClean="0"/>
              <a:t>al duelo total</a:t>
            </a:r>
            <a:endParaRPr lang="es-419" sz="2000" b="1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091770" y="1459855"/>
            <a:ext cx="9766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 noProof="0" dirty="0"/>
              <a:t>Multiplicador de duelo: </a:t>
            </a:r>
            <a:r>
              <a:rPr lang="es-419" sz="2400" b="1" noProof="0" dirty="0">
                <a:solidFill>
                  <a:srgbClr val="FF0000"/>
                </a:solidFill>
              </a:rPr>
              <a:t>29-38</a:t>
            </a:r>
            <a:r>
              <a:rPr lang="es-419" sz="2400" b="1" noProof="0" dirty="0"/>
              <a:t> familiares en duelo por cada pérdida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2800" y="2314685"/>
            <a:ext cx="4940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2400" b="1" noProof="0" dirty="0"/>
              <a:t>Total personas en duelo en 2018 </a:t>
            </a:r>
            <a:endParaRPr lang="es-419" sz="2400" b="1" noProof="0" dirty="0" smtClean="0"/>
          </a:p>
          <a:p>
            <a:pPr algn="ctr"/>
            <a:r>
              <a:rPr lang="es-419" sz="2400" b="1" noProof="0" dirty="0" smtClean="0"/>
              <a:t>(Millones)</a:t>
            </a:r>
            <a:endParaRPr lang="es-419" b="1" noProof="0" dirty="0"/>
          </a:p>
        </p:txBody>
      </p:sp>
    </p:spTree>
    <p:extLst>
      <p:ext uri="{BB962C8B-B14F-4D97-AF65-F5344CB8AC3E}">
        <p14:creationId xmlns:p14="http://schemas.microsoft.com/office/powerpoint/2010/main" val="192573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3D21B8C9-C8FD-439E-BB1D-6DDAA7F7A3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781" y="1980247"/>
            <a:ext cx="7316630" cy="48777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577" y="657224"/>
            <a:ext cx="3862012" cy="1616657"/>
          </a:xfrm>
        </p:spPr>
        <p:txBody>
          <a:bodyPr>
            <a:normAutofit/>
          </a:bodyPr>
          <a:lstStyle/>
          <a:p>
            <a:r>
              <a:rPr lang="es-419" dirty="0"/>
              <a:t>Carga de duelo en el tiempo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244DC578-A396-45B5-A954-8FD9E2986538}"/>
              </a:ext>
            </a:extLst>
          </p:cNvPr>
          <p:cNvSpPr txBox="1"/>
          <p:nvPr/>
        </p:nvSpPr>
        <p:spPr>
          <a:xfrm>
            <a:off x="766259" y="2273881"/>
            <a:ext cx="4025462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 dirty="0"/>
              <a:t>Dinámica </a:t>
            </a:r>
            <a:r>
              <a:rPr lang="es-419" sz="2400" b="1" dirty="0" smtClean="0"/>
              <a:t>temporal, posterior al cese de hostilidades</a:t>
            </a:r>
          </a:p>
          <a:p>
            <a:r>
              <a:rPr lang="es-419" sz="2000" i="1" dirty="0" smtClean="0"/>
              <a:t>Bajo un escenario híper-optimista de “finalización” del conflicto armado </a:t>
            </a:r>
            <a:r>
              <a:rPr lang="es-419" sz="2000" i="1" dirty="0"/>
              <a:t>en 2018 </a:t>
            </a:r>
            <a:r>
              <a:rPr lang="es-419" sz="2000" i="1" dirty="0" smtClean="0"/>
              <a:t>(a todas luces </a:t>
            </a:r>
            <a:r>
              <a:rPr lang="es-419" sz="2000" i="1" dirty="0"/>
              <a:t>irreal)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2000" dirty="0"/>
              <a:t>Proyecciones </a:t>
            </a:r>
            <a:r>
              <a:rPr lang="es-419" sz="2000" dirty="0" smtClean="0"/>
              <a:t>de población por sexo y edad de WPP 2019-2100</a:t>
            </a:r>
            <a:endParaRPr lang="es-419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419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2000" b="1" dirty="0" smtClean="0"/>
              <a:t>&gt;1/4 </a:t>
            </a:r>
            <a:r>
              <a:rPr lang="es-419" sz="2000" b="1" dirty="0"/>
              <a:t>de la población aun en duelo para 2040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419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53C7152-2B79-4FCB-8F40-56189290E0A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" r="-1993"/>
          <a:stretch/>
        </p:blipFill>
        <p:spPr>
          <a:xfrm>
            <a:off x="6723459" y="835677"/>
            <a:ext cx="4434933" cy="11445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0678D832-4AAB-444F-9615-5C7CE138D461}"/>
              </a:ext>
            </a:extLst>
          </p:cNvPr>
          <p:cNvSpPr/>
          <p:nvPr/>
        </p:nvSpPr>
        <p:spPr>
          <a:xfrm>
            <a:off x="7402286" y="2073729"/>
            <a:ext cx="4686182" cy="39596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CA4956D7-AB8F-4278-8A6E-6146BFE43EAE}"/>
              </a:ext>
            </a:extLst>
          </p:cNvPr>
          <p:cNvSpPr txBox="1"/>
          <p:nvPr/>
        </p:nvSpPr>
        <p:spPr>
          <a:xfrm flipH="1">
            <a:off x="7331717" y="2717137"/>
            <a:ext cx="977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400" b="1" dirty="0"/>
              <a:t>40%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0F02135-C6B9-474C-97C0-1DCF28F5AB82}"/>
              </a:ext>
            </a:extLst>
          </p:cNvPr>
          <p:cNvSpPr txBox="1"/>
          <p:nvPr/>
        </p:nvSpPr>
        <p:spPr>
          <a:xfrm flipH="1">
            <a:off x="7330662" y="4787569"/>
            <a:ext cx="977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400" b="1" dirty="0"/>
              <a:t>7%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FA9FBFD2-AD68-4AC4-8D51-FC20FD50D6EB}"/>
              </a:ext>
            </a:extLst>
          </p:cNvPr>
          <p:cNvSpPr/>
          <p:nvPr/>
        </p:nvSpPr>
        <p:spPr>
          <a:xfrm>
            <a:off x="7947657" y="806526"/>
            <a:ext cx="3406143" cy="1202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88806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8" grpId="0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smtClean="0"/>
              <a:t>Laboratorio</a:t>
            </a:r>
            <a:endParaRPr lang="es-419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Vamos a reproducir, </a:t>
            </a:r>
            <a:r>
              <a:rPr lang="es-ES" dirty="0"/>
              <a:t>paso a paso, las cuatro medidas clave del artículo </a:t>
            </a:r>
            <a:r>
              <a:rPr lang="es-ES" i="1" dirty="0" err="1"/>
              <a:t>Weaponizing</a:t>
            </a:r>
            <a:r>
              <a:rPr lang="es-ES" i="1" dirty="0"/>
              <a:t> </a:t>
            </a:r>
            <a:r>
              <a:rPr lang="es-ES" i="1" dirty="0" err="1"/>
              <a:t>Kinship</a:t>
            </a:r>
            <a:r>
              <a:rPr lang="es-ES" dirty="0"/>
              <a:t> (</a:t>
            </a:r>
            <a:r>
              <a:rPr lang="es-ES" dirty="0">
                <a:hlinkClick r:id="rId2"/>
              </a:rPr>
              <a:t>Acosta et al. 2026</a:t>
            </a:r>
            <a:r>
              <a:rPr lang="es-ES" dirty="0"/>
              <a:t>):</a:t>
            </a:r>
          </a:p>
          <a:p>
            <a:r>
              <a:rPr lang="es-ES" dirty="0"/>
              <a:t>la </a:t>
            </a:r>
            <a:r>
              <a:rPr lang="es-ES" b="1" dirty="0"/>
              <a:t>incidencia anual</a:t>
            </a:r>
            <a:r>
              <a:rPr lang="es-ES" dirty="0"/>
              <a:t> del </a:t>
            </a:r>
            <a:r>
              <a:rPr lang="es-ES" dirty="0" smtClean="0"/>
              <a:t>duelo</a:t>
            </a:r>
            <a:endParaRPr lang="es-ES" dirty="0"/>
          </a:p>
          <a:p>
            <a:r>
              <a:rPr lang="es-ES" dirty="0"/>
              <a:t>la </a:t>
            </a:r>
            <a:r>
              <a:rPr lang="es-ES" b="1" dirty="0"/>
              <a:t>tabla de multiplicadores</a:t>
            </a:r>
            <a:r>
              <a:rPr lang="es-ES" dirty="0"/>
              <a:t> de </a:t>
            </a:r>
            <a:r>
              <a:rPr lang="es-ES" dirty="0" smtClean="0"/>
              <a:t>duelo</a:t>
            </a:r>
            <a:endParaRPr lang="es-ES" dirty="0"/>
          </a:p>
          <a:p>
            <a:r>
              <a:rPr lang="es-ES" dirty="0"/>
              <a:t>la </a:t>
            </a:r>
            <a:r>
              <a:rPr lang="es-ES" b="1" dirty="0"/>
              <a:t>prevalencia acumulada</a:t>
            </a:r>
            <a:r>
              <a:rPr lang="es-ES" dirty="0"/>
              <a:t> del duelo (a 2018</a:t>
            </a:r>
            <a:r>
              <a:rPr lang="es-ES" dirty="0" smtClean="0"/>
              <a:t>)</a:t>
            </a:r>
            <a:endParaRPr lang="es-ES" dirty="0"/>
          </a:p>
          <a:p>
            <a:r>
              <a:rPr lang="es-ES" dirty="0"/>
              <a:t>la </a:t>
            </a:r>
            <a:r>
              <a:rPr lang="es-ES" b="1" dirty="0"/>
              <a:t>distribución por edad</a:t>
            </a:r>
            <a:r>
              <a:rPr lang="es-ES" dirty="0"/>
              <a:t> de la prevalencia (pirámide poblacional de 2018, coloreada según el tipo de familia perdida</a:t>
            </a:r>
            <a:r>
              <a:rPr lang="es-ES" dirty="0" smtClean="0"/>
              <a:t>)</a:t>
            </a:r>
            <a:endParaRPr lang="es-E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970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9192</TotalTime>
  <Words>1803</Words>
  <Application>Microsoft Office PowerPoint</Application>
  <PresentationFormat>Widescreen</PresentationFormat>
  <Paragraphs>322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Office Theme</vt:lpstr>
      <vt:lpstr>Módulo 3 · Demografía de la pérdida: el conflicto colombiano</vt:lpstr>
      <vt:lpstr>Estructura de esta introducción</vt:lpstr>
      <vt:lpstr>¿Por qué medir el duelo?</vt:lpstr>
      <vt:lpstr>Características del duelo (1/2)</vt:lpstr>
      <vt:lpstr>Características del duelo (2/2)</vt:lpstr>
      <vt:lpstr>Impactos del duelo</vt:lpstr>
      <vt:lpstr>Aplicaciones principales</vt:lpstr>
      <vt:lpstr>Estimación de población en duelo</vt:lpstr>
      <vt:lpstr>Método de estimación de personas en duelo</vt:lpstr>
      <vt:lpstr>2. Estructuras de parentesco</vt:lpstr>
      <vt:lpstr>3. Estimación de personas en duelo</vt:lpstr>
      <vt:lpstr>3. Estimación de personas en duelo</vt:lpstr>
      <vt:lpstr>3. Estimación de personas en duelo</vt:lpstr>
      <vt:lpstr>3. Estimación de personas en duelo</vt:lpstr>
      <vt:lpstr>4. Multiplicadores de duelo</vt:lpstr>
      <vt:lpstr>A continuación: el caso colombiano</vt:lpstr>
      <vt:lpstr>Conflicto Armado en Colombia</vt:lpstr>
      <vt:lpstr>Datos – Conflicto armado</vt:lpstr>
      <vt:lpstr>Resultados: personas en duelo por conflicto 2018</vt:lpstr>
      <vt:lpstr>Carga de duelo en el tiempo</vt:lpstr>
      <vt:lpstr>Laboratorio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Cause-specific decomposition of mortality perturbances</dc:title>
  <dc:creator>Microsoft account</dc:creator>
  <cp:lastModifiedBy>Microsoft account</cp:lastModifiedBy>
  <cp:revision>588</cp:revision>
  <dcterms:created xsi:type="dcterms:W3CDTF">2024-03-01T07:41:34Z</dcterms:created>
  <dcterms:modified xsi:type="dcterms:W3CDTF">2026-08-07T14:38:21Z</dcterms:modified>
</cp:coreProperties>
</file>